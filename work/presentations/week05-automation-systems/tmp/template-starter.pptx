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4706daa65a4973" /><Relationship Type="http://schemas.openxmlformats.org/officeDocument/2006/relationships/extended-properties" Target="/docProps/app.xml" Id="Rd2947b8436aa4c66" /><Relationship Type="http://schemas.openxmlformats.org/officeDocument/2006/relationships/officeDocument" Target="/ppt/presentation.xml" Id="R5e3f07e29f8a45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65832e49a442e8"/>
  </p:sldMasterIdLst>
  <p:notesMasterIdLst>
    <p:notesMasterId xmlns:r="http://schemas.openxmlformats.org/officeDocument/2006/relationships" r:id="R3f409c367953439e"/>
  </p:notesMasterIdLst>
  <p:sldIdLst>
    <p:sldId xmlns:r="http://schemas.openxmlformats.org/officeDocument/2006/relationships" id="256" r:id="R7b436a3287f642b0"/>
    <p:sldId xmlns:r="http://schemas.openxmlformats.org/officeDocument/2006/relationships" id="257" r:id="Rd340ac0c123a4d3f"/>
    <p:sldId xmlns:r="http://schemas.openxmlformats.org/officeDocument/2006/relationships" id="258" r:id="R18a3b7e5e08c4a25"/>
    <p:sldId xmlns:r="http://schemas.openxmlformats.org/officeDocument/2006/relationships" id="259" r:id="Ra0b5094bae114363"/>
    <p:sldId xmlns:r="http://schemas.openxmlformats.org/officeDocument/2006/relationships" id="260" r:id="R80f6e814132041d2"/>
    <p:sldId xmlns:r="http://schemas.openxmlformats.org/officeDocument/2006/relationships" id="261" r:id="R05bac08dbd2d441c"/>
    <p:sldId xmlns:r="http://schemas.openxmlformats.org/officeDocument/2006/relationships" id="262" r:id="Re55450037a064059"/>
    <p:sldId xmlns:r="http://schemas.openxmlformats.org/officeDocument/2006/relationships" id="263" r:id="Rdb400df4505a430a"/>
    <p:sldId xmlns:r="http://schemas.openxmlformats.org/officeDocument/2006/relationships" id="264" r:id="Rde4932a95c7940ac"/>
    <p:sldId xmlns:r="http://schemas.openxmlformats.org/officeDocument/2006/relationships" id="265" r:id="R9a2b5b7386ed4ff1"/>
    <p:sldId xmlns:r="http://schemas.openxmlformats.org/officeDocument/2006/relationships" id="266" r:id="Rde9399e4dff6446c"/>
    <p:sldId xmlns:r="http://schemas.openxmlformats.org/officeDocument/2006/relationships" id="267" r:id="R72d924173a324615"/>
    <p:sldId xmlns:r="http://schemas.openxmlformats.org/officeDocument/2006/relationships" id="268" r:id="R352cca95c3084047"/>
    <p:sldId xmlns:r="http://schemas.openxmlformats.org/officeDocument/2006/relationships" id="269" r:id="R94bb0803efe844c3"/>
    <p:sldId xmlns:r="http://schemas.openxmlformats.org/officeDocument/2006/relationships" id="270" r:id="R36e64341548e4eb7"/>
    <p:sldId xmlns:r="http://schemas.openxmlformats.org/officeDocument/2006/relationships" id="271" r:id="Ref305447fb8645f9"/>
    <p:sldId xmlns:r="http://schemas.openxmlformats.org/officeDocument/2006/relationships" id="272" r:id="R3112086859804c3e"/>
    <p:sldId xmlns:r="http://schemas.openxmlformats.org/officeDocument/2006/relationships" id="273" r:id="R0ea597eab89b4c8f"/>
    <p:sldId xmlns:r="http://schemas.openxmlformats.org/officeDocument/2006/relationships" id="274" r:id="R6f325d71162246c6"/>
    <p:sldId xmlns:r="http://schemas.openxmlformats.org/officeDocument/2006/relationships" id="275" r:id="Re170db78918348fa"/>
    <p:sldId xmlns:r="http://schemas.openxmlformats.org/officeDocument/2006/relationships" id="276" r:id="R5106b10de6e94d0d"/>
    <p:sldId xmlns:r="http://schemas.openxmlformats.org/officeDocument/2006/relationships" id="277" r:id="Rba953f64dde3405b"/>
    <p:sldId xmlns:r="http://schemas.openxmlformats.org/officeDocument/2006/relationships" id="278" r:id="Rbcf1d2dfa1ba4d52"/>
    <p:sldId xmlns:r="http://schemas.openxmlformats.org/officeDocument/2006/relationships" id="279" r:id="Rae0e21a0cae44925"/>
    <p:sldId xmlns:r="http://schemas.openxmlformats.org/officeDocument/2006/relationships" id="280" r:id="R393d1cc45bad4f66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424F29DC-9C4C-416F-946C-F0C2A31E4117}">
  <a:tblStyle styleId="{424F29DC-9C4C-416F-946C-F0C2A31E4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5462503d494f00" /><Relationship Type="http://schemas.openxmlformats.org/officeDocument/2006/relationships/slideMaster" Target="/ppt/slideMasters/slideMaster1.xml" Id="R0065832e49a442e8" /><Relationship Type="http://schemas.openxmlformats.org/officeDocument/2006/relationships/notesMaster" Target="/ppt/notesMasters/notesMaster1.xml" Id="R3f409c367953439e" /><Relationship Type="http://schemas.openxmlformats.org/officeDocument/2006/relationships/presProps" Target="/ppt/presProps.xml" Id="R4b0db8525b1b4127" /><Relationship Type="http://schemas.openxmlformats.org/officeDocument/2006/relationships/tableStyles" Target="/ppt/tableStyles.xml" Id="Rf3aa467ffacd42a1" /><Relationship Type="http://schemas.openxmlformats.org/officeDocument/2006/relationships/slide" Target="/ppt/slides/slide1.xml" Id="R7b436a3287f642b0" /><Relationship Type="http://schemas.openxmlformats.org/officeDocument/2006/relationships/slide" Target="/ppt/slides/slide2.xml" Id="Rd340ac0c123a4d3f" /><Relationship Type="http://schemas.openxmlformats.org/officeDocument/2006/relationships/slide" Target="/ppt/slides/slide3.xml" Id="R18a3b7e5e08c4a25" /><Relationship Type="http://schemas.openxmlformats.org/officeDocument/2006/relationships/slide" Target="/ppt/slides/slide4.xml" Id="Ra0b5094bae114363" /><Relationship Type="http://schemas.openxmlformats.org/officeDocument/2006/relationships/slide" Target="/ppt/slides/slide5.xml" Id="R80f6e814132041d2" /><Relationship Type="http://schemas.openxmlformats.org/officeDocument/2006/relationships/slide" Target="/ppt/slides/slide6.xml" Id="R05bac08dbd2d441c" /><Relationship Type="http://schemas.openxmlformats.org/officeDocument/2006/relationships/slide" Target="/ppt/slides/slide7.xml" Id="Re55450037a064059" /><Relationship Type="http://schemas.openxmlformats.org/officeDocument/2006/relationships/slide" Target="/ppt/slides/slide8.xml" Id="Rdb400df4505a430a" /><Relationship Type="http://schemas.openxmlformats.org/officeDocument/2006/relationships/slide" Target="/ppt/slides/slide9.xml" Id="Rde4932a95c7940ac" /><Relationship Type="http://schemas.openxmlformats.org/officeDocument/2006/relationships/slide" Target="/ppt/slides/slide10.xml" Id="R9a2b5b7386ed4ff1" /><Relationship Type="http://schemas.openxmlformats.org/officeDocument/2006/relationships/slide" Target="/ppt/slides/slide11.xml" Id="Rde9399e4dff6446c" /><Relationship Type="http://schemas.openxmlformats.org/officeDocument/2006/relationships/slide" Target="/ppt/slides/slide12.xml" Id="R72d924173a324615" /><Relationship Type="http://schemas.openxmlformats.org/officeDocument/2006/relationships/slide" Target="/ppt/slides/slide13.xml" Id="R352cca95c3084047" /><Relationship Type="http://schemas.openxmlformats.org/officeDocument/2006/relationships/slide" Target="/ppt/slides/slide14.xml" Id="R94bb0803efe844c3" /><Relationship Type="http://schemas.openxmlformats.org/officeDocument/2006/relationships/slide" Target="/ppt/slides/slide15.xml" Id="R36e64341548e4eb7" /><Relationship Type="http://schemas.openxmlformats.org/officeDocument/2006/relationships/slide" Target="/ppt/slides/slide16.xml" Id="Ref305447fb8645f9" /><Relationship Type="http://schemas.openxmlformats.org/officeDocument/2006/relationships/slide" Target="/ppt/slides/slide17.xml" Id="R3112086859804c3e" /><Relationship Type="http://schemas.openxmlformats.org/officeDocument/2006/relationships/slide" Target="/ppt/slides/slide18.xml" Id="R0ea597eab89b4c8f" /><Relationship Type="http://schemas.openxmlformats.org/officeDocument/2006/relationships/slide" Target="/ppt/slides/slide19.xml" Id="R6f325d71162246c6" /><Relationship Type="http://schemas.openxmlformats.org/officeDocument/2006/relationships/slide" Target="/ppt/slides/slide20.xml" Id="Re170db78918348fa" /><Relationship Type="http://schemas.openxmlformats.org/officeDocument/2006/relationships/slide" Target="/ppt/slides/slide21.xml" Id="R5106b10de6e94d0d" /><Relationship Type="http://schemas.openxmlformats.org/officeDocument/2006/relationships/slide" Target="/ppt/slides/slide22.xml" Id="Rba953f64dde3405b" /><Relationship Type="http://schemas.openxmlformats.org/officeDocument/2006/relationships/slide" Target="/ppt/slides/slide23.xml" Id="Rbcf1d2dfa1ba4d52" /><Relationship Type="http://schemas.openxmlformats.org/officeDocument/2006/relationships/slide" Target="/ppt/slides/slide24.xml" Id="Rae0e21a0cae44925" /><Relationship Type="http://schemas.openxmlformats.org/officeDocument/2006/relationships/slide" Target="/ppt/slides/slide25.xml" Id="R393d1cc45bad4f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bd7fde03047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ayouts">
  <a:themeElements>
    <a:clrScheme name="Marquee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a00fa02b7a4481" /><Relationship Type="http://schemas.openxmlformats.org/officeDocument/2006/relationships/notesMaster" Target="/ppt/notesMasters/notesMaster1.xml" Id="Rfb484f7c1b8e47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8c812e34d041e2" /><Relationship Type="http://schemas.openxmlformats.org/officeDocument/2006/relationships/notesMaster" Target="/ppt/notesMasters/notesMaster1.xml" Id="R5f01df45bd854f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c8c2b007941a1" /><Relationship Type="http://schemas.openxmlformats.org/officeDocument/2006/relationships/notesMaster" Target="/ppt/notesMasters/notesMaster1.xml" Id="Raa0adc016b734c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f0dadd50d543a6" /><Relationship Type="http://schemas.openxmlformats.org/officeDocument/2006/relationships/notesMaster" Target="/ppt/notesMasters/notesMaster1.xml" Id="R13fe1852a132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2c9bb0dbb4444a" /><Relationship Type="http://schemas.openxmlformats.org/officeDocument/2006/relationships/notesMaster" Target="/ppt/notesMasters/notesMaster1.xml" Id="Rfddd607e9ce743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d8d76d35b54f7e" /><Relationship Type="http://schemas.openxmlformats.org/officeDocument/2006/relationships/notesMaster" Target="/ppt/notesMasters/notesMaster1.xml" Id="Rdbc78bca98dc43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86050e0db9448e" /><Relationship Type="http://schemas.openxmlformats.org/officeDocument/2006/relationships/notesMaster" Target="/ppt/notesMasters/notesMaster1.xml" Id="R238c8cdfbebf4e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0874c15b7a4195" /><Relationship Type="http://schemas.openxmlformats.org/officeDocument/2006/relationships/notesMaster" Target="/ppt/notesMasters/notesMaster1.xml" Id="R03a21ab6526748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dd99b27d664f0a" /><Relationship Type="http://schemas.openxmlformats.org/officeDocument/2006/relationships/notesMaster" Target="/ppt/notesMasters/notesMaster1.xml" Id="R6df8210d9efb4d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2738ddeb174ba9" /><Relationship Type="http://schemas.openxmlformats.org/officeDocument/2006/relationships/notesMaster" Target="/ppt/notesMasters/notesMaster1.xml" Id="R22c45901e84e4e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20f0abc32a4fed" /><Relationship Type="http://schemas.openxmlformats.org/officeDocument/2006/relationships/notesMaster" Target="/ppt/notesMasters/notesMaster1.xml" Id="R655b3dd80aae4c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9c6bd5ebc1478e" /><Relationship Type="http://schemas.openxmlformats.org/officeDocument/2006/relationships/notesMaster" Target="/ppt/notesMasters/notesMaster1.xml" Id="R23f9fc55c06947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0c9890acc84ce0" /><Relationship Type="http://schemas.openxmlformats.org/officeDocument/2006/relationships/notesMaster" Target="/ppt/notesMasters/notesMaster1.xml" Id="R64ab06ad96bb49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86c1e813f14a20" /><Relationship Type="http://schemas.openxmlformats.org/officeDocument/2006/relationships/notesMaster" Target="/ppt/notesMasters/notesMaster1.xml" Id="R896942ce129844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f45e31c50d40f0" /><Relationship Type="http://schemas.openxmlformats.org/officeDocument/2006/relationships/notesMaster" Target="/ppt/notesMasters/notesMaster1.xml" Id="R59096c7af9894c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786a4b47d94025" /><Relationship Type="http://schemas.openxmlformats.org/officeDocument/2006/relationships/notesMaster" Target="/ppt/notesMasters/notesMaster1.xml" Id="R7b658f2e4ef44b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62aa59a78a4143" /><Relationship Type="http://schemas.openxmlformats.org/officeDocument/2006/relationships/notesMaster" Target="/ppt/notesMasters/notesMaster1.xml" Id="R5dddf46d30e743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9f93d2958749a9" /><Relationship Type="http://schemas.openxmlformats.org/officeDocument/2006/relationships/notesMaster" Target="/ppt/notesMasters/notesMaster1.xml" Id="R6e49ca2fc43b42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6aeab38eb34e85" /><Relationship Type="http://schemas.openxmlformats.org/officeDocument/2006/relationships/notesMaster" Target="/ppt/notesMasters/notesMaster1.xml" Id="R1e456e1452d446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31436386424c8c" /><Relationship Type="http://schemas.openxmlformats.org/officeDocument/2006/relationships/notesMaster" Target="/ppt/notesMasters/notesMaster1.xml" Id="Rf553cee1b90746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461a67014374d8d" /><Relationship Type="http://schemas.openxmlformats.org/officeDocument/2006/relationships/notesMaster" Target="/ppt/notesMasters/notesMaster1.xml" Id="R06037dd99953413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84623cb5da48da" /><Relationship Type="http://schemas.openxmlformats.org/officeDocument/2006/relationships/notesMaster" Target="/ppt/notesMasters/notesMaster1.xml" Id="Rc36ef2bbf27743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96afd9b7ed94b36" /><Relationship Type="http://schemas.openxmlformats.org/officeDocument/2006/relationships/notesMaster" Target="/ppt/notesMasters/notesMaster1.xml" Id="Ree61df741d1d46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a067a6d9804f9e" /><Relationship Type="http://schemas.openxmlformats.org/officeDocument/2006/relationships/notesMaster" Target="/ppt/notesMasters/notesMaster1.xml" Id="R94152c4bd5e345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ac2847bb1344f93" /><Relationship Type="http://schemas.openxmlformats.org/officeDocument/2006/relationships/notesMaster" Target="/ppt/notesMasters/notesMaster1.xml" Id="R9b136f773f734f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39b99153847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f6c1b4f574aa4" /><Relationship Type="http://schemas.openxmlformats.org/officeDocument/2006/relationships/image" Target="/ppt/media/image.jpeg" Id="R153cf2a550f847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2db4fcd2244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052fe76054dea" /><Relationship Type="http://schemas.openxmlformats.org/officeDocument/2006/relationships/image" Target="/ppt/media/image2.jpeg" Id="Rfe51075393e24b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9dd3e46bc4b0e" /></Relationships>
</file>

<file path=ppt/slideLayouts/slideLayout1.xml><?xml version="1.0" encoding="utf-8"?>
<p:sldLayout xmlns:p="http://schemas.openxmlformats.org/presentationml/2006/main" matchingName="Full page picture">
  <p:cSld name="Full page picture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2">
            <a:extLst xmlns:a="http://schemas.openxmlformats.org/drawingml/2006/main">
              <a:ext uri="{FF2B5EF4-FFF2-40B4-BE49-F238E27FC236}">
                <a16:creationId xmlns:a16="http://schemas.microsoft.com/office/drawing/2014/main" id="{C0717296-DB96-49A0-9C75-DBE7B806DE2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67054" y="533400"/>
            <a:ext cx="8976946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0" name="Google Shape;40;p2">
            <a:extLst xmlns:a="http://schemas.openxmlformats.org/drawingml/2006/main">
              <a:ext uri="{FF2B5EF4-FFF2-40B4-BE49-F238E27FC236}">
                <a16:creationId xmlns:a16="http://schemas.microsoft.com/office/drawing/2014/main" id="{0233AE68-E9C5-4D14-98BC-B233265E4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7050" y="103600"/>
            <a:ext cx="5225100" cy="42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D6E7F0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42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3cf2a550f847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9143997" cy="5142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" name="Google Shape;43;p3">
            <a:extLst xmlns:a="http://schemas.openxmlformats.org/drawingml/2006/main">
              <a:ext uri="{FF2B5EF4-FFF2-40B4-BE49-F238E27FC236}">
                <a16:creationId xmlns:a16="http://schemas.microsoft.com/office/drawing/2014/main" id="{0A3ED8CC-E2E8-43A3-8E60-3817113B6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984739"/>
            <a:ext cx="8229600" cy="4149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81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1pPr>
            <a:lvl2pPr marL="914400" indent="-34290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har char="●"/>
              <a:defRPr b="0" i="0">
                <a:latin typeface="Arial"/>
                <a:ea typeface="Arial"/>
                <a:cs typeface="Arial"/>
              </a:defRPr>
            </a:lvl2pPr>
            <a:lvl3pPr marL="1371600" indent="-330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har char="○"/>
              <a:defRPr b="0" i="0">
                <a:latin typeface="Arial"/>
                <a:ea typeface="Arial"/>
                <a:cs typeface="Arial"/>
              </a:defRPr>
            </a:lvl3pPr>
            <a:lvl4pPr marL="1828800" indent="-330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har char="•"/>
              <a:defRPr sz="1600" b="0" i="0">
                <a:latin typeface="Arial"/>
                <a:ea typeface="Arial"/>
                <a:cs typeface="Arial"/>
              </a:defRPr>
            </a:lvl4pPr>
            <a:lvl5pPr marL="2286000" indent="-330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har char="•"/>
              <a:defRPr sz="1600" b="0" i="0">
                <a:latin typeface="Arial"/>
                <a:ea typeface="Arial"/>
                <a:cs typeface="Arial"/>
              </a:defRPr>
            </a:lvl5pPr>
            <a:lvl6pPr marL="274320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3">
            <a:extLst xmlns:a="http://schemas.openxmlformats.org/drawingml/2006/main">
              <a:ext uri="{FF2B5EF4-FFF2-40B4-BE49-F238E27FC236}">
                <a16:creationId xmlns:a16="http://schemas.microsoft.com/office/drawing/2014/main" id="{C8E9345F-1BF4-4CE8-A86B-5D4EBA048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7850"/>
            <a:ext cx="8229600" cy="55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C251D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4F3FD636-2CED-4716-819E-2AF6447047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42938"/>
            <a:ext cx="80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9125" tIns="39550" rIns="79125" bIns="3955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2DFDAE45-1150-49AC-A754-C93AB08028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9357" y="1071563"/>
            <a:ext cx="8333700" cy="372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9125" tIns="0" rIns="79125" bIns="31150" anchor="t">
            <a:noAutofit/>
          </a:bodyPr>
          <a:lstStyle xmlns:a="http://schemas.openxmlformats.org/drawingml/2006/main">
            <a:lvl1pPr marL="457200" indent="-3302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har char="■"/>
              <a:defRPr/>
            </a:lvl1pPr>
            <a:lvl2pPr marL="914400" indent="-3302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har char="●"/>
              <a:defRPr/>
            </a:lvl2pPr>
            <a:lvl3pPr marL="1371600" indent="-3302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har char="○"/>
              <a:defRPr/>
            </a:lvl3pPr>
            <a:lvl4pPr marL="1828800" indent="-3302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har char="•"/>
              <a:defRPr/>
            </a:lvl4pPr>
            <a:lvl5pPr marL="2286000" indent="-3302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har char="•"/>
              <a:defRPr/>
            </a:lvl5pPr>
            <a:lvl6pPr marL="274320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har char="•"/>
              <a:defRPr/>
            </a:lvl6pPr>
            <a:lvl7pPr marL="320040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har char="•"/>
              <a:defRPr/>
            </a:lvl7pPr>
            <a:lvl8pPr marL="365760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har char="•"/>
              <a:defRPr/>
            </a:lvl8pPr>
            <a:lvl9pPr marL="411480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EBED5A38-293C-4DF1-9FD0-AF3CEEB792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50934" y="4894659"/>
            <a:ext cx="7921800" cy="24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9125" tIns="39550" rIns="79125" bIns="3955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End slide">
  <p:cSld name="End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6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51075393e24b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2" y="0"/>
            <a:ext cx="9142855" cy="51428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F12349BE-4A48-4C87-8D49-8244F285A6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4269" y="990600"/>
            <a:ext cx="4026701" cy="3091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marL="45720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" b="1" i="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429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har char="○"/>
              <a:defRPr/>
            </a:lvl3pPr>
            <a:lvl4pPr marL="1828800" indent="-3429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Title and Content 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p8">
            <a:extLst xmlns:a="http://schemas.openxmlformats.org/drawingml/2006/main">
              <a:ext uri="{FF2B5EF4-FFF2-40B4-BE49-F238E27FC236}">
                <a16:creationId xmlns:a16="http://schemas.microsoft.com/office/drawing/2014/main" id="{D223F7DD-D051-4C4B-8D7E-15ADB61B35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4949" y="617600"/>
            <a:ext cx="5679300" cy="33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2100" b="1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8">
            <a:extLst xmlns:a="http://schemas.openxmlformats.org/drawingml/2006/main">
              <a:ext uri="{FF2B5EF4-FFF2-40B4-BE49-F238E27FC236}">
                <a16:creationId xmlns:a16="http://schemas.microsoft.com/office/drawing/2014/main" id="{350FA39E-49C3-464C-8FBA-44B1E60703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4949" y="1397772"/>
            <a:ext cx="5836500" cy="302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28600" algn="l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404040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spcBef>
                <a:spcPts val="800"/>
              </a:spcBef>
              <a:spcAft>
                <a:spcPts val="0"/>
              </a:spcAft>
              <a:buNone/>
              <a:defRPr/>
            </a:lvl2pPr>
            <a:lvl3pPr marL="1371600" indent="-228600" algn="l">
              <a:spcBef>
                <a:spcPts val="800"/>
              </a:spcBef>
              <a:spcAft>
                <a:spcPts val="0"/>
              </a:spcAft>
              <a:buNone/>
              <a:defRPr/>
            </a:lvl3pPr>
            <a:lvl4pPr marL="1828800" indent="-228600" algn="l">
              <a:spcBef>
                <a:spcPts val="800"/>
              </a:spcBef>
              <a:spcAft>
                <a:spcPts val="0"/>
              </a:spcAft>
              <a:buNone/>
              <a:defRPr/>
            </a:lvl4pPr>
            <a:lvl5pPr marL="2286000" indent="-228600" algn="l">
              <a:spcBef>
                <a:spcPts val="800"/>
              </a:spcBef>
              <a:spcAft>
                <a:spcPts val="0"/>
              </a:spcAft>
              <a:buNone/>
              <a:defRPr/>
            </a:lvl5pPr>
            <a:lvl6pPr marL="2743200" indent="-228600" algn="l">
              <a:spcBef>
                <a:spcPts val="800"/>
              </a:spcBef>
              <a:spcAft>
                <a:spcPts val="0"/>
              </a:spcAft>
              <a:buNone/>
              <a:defRPr/>
            </a:lvl6pPr>
            <a:lvl7pPr marL="3200400" indent="-228600" algn="l">
              <a:spcBef>
                <a:spcPts val="400"/>
              </a:spcBef>
              <a:spcAft>
                <a:spcPts val="0"/>
              </a:spcAft>
              <a:buNone/>
              <a:defRPr/>
            </a:lvl7pPr>
            <a:lvl8pPr marL="3657600" indent="-228600" algn="l">
              <a:spcBef>
                <a:spcPts val="400"/>
              </a:spcBef>
              <a:spcAft>
                <a:spcPts val="0"/>
              </a:spcAft>
              <a:buNone/>
              <a:defRPr/>
            </a:lvl8pPr>
            <a:lvl9pPr marL="4114800" indent="-228600" algn="l">
              <a:spcBef>
                <a:spcPts val="4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8">
            <a:extLst xmlns:a="http://schemas.openxmlformats.org/drawingml/2006/main">
              <a:ext uri="{FF2B5EF4-FFF2-40B4-BE49-F238E27FC236}">
                <a16:creationId xmlns:a16="http://schemas.microsoft.com/office/drawing/2014/main" id="{57284668-A4B0-4109-9043-9B368A7688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08960" y="4783455"/>
            <a:ext cx="29262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68" name="Google Shape;68;p8">
            <a:extLst xmlns:a="http://schemas.openxmlformats.org/drawingml/2006/main">
              <a:ext uri="{FF2B5EF4-FFF2-40B4-BE49-F238E27FC236}">
                <a16:creationId xmlns:a16="http://schemas.microsoft.com/office/drawing/2014/main" id="{6E252BB9-6718-4D3B-8DC8-48A22FADD7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83455"/>
            <a:ext cx="21030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888888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69" name="Google Shape;69;p8">
            <a:extLst xmlns:a="http://schemas.openxmlformats.org/drawingml/2006/main">
              <a:ext uri="{FF2B5EF4-FFF2-40B4-BE49-F238E27FC236}">
                <a16:creationId xmlns:a16="http://schemas.microsoft.com/office/drawing/2014/main" id="{80FF05BA-DF53-4FB6-B60A-661A4D3A95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83680" y="4783455"/>
            <a:ext cx="2103000" cy="16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1pPr>
            <a:lvl2pPr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2pPr>
            <a:lvl3pPr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3pPr>
            <a:lvl4pPr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4pPr>
            <a:lvl5pPr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5pPr>
            <a:lvl6pPr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6pPr>
            <a:lvl7pPr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7pPr>
            <a:lvl8pPr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8pPr>
            <a:lvl9pPr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d5206f4e04c7f" /><Relationship Type="http://schemas.openxmlformats.org/officeDocument/2006/relationships/slideLayout" Target="/ppt/slideLayouts/slideLayout1.xml" Id="R61a3b98031fb457a" /><Relationship Type="http://schemas.openxmlformats.org/officeDocument/2006/relationships/slideLayout" Target="/ppt/slideLayouts/slideLayout2.xml" Id="Rff89bed3cc3f47a7" /><Relationship Type="http://schemas.openxmlformats.org/officeDocument/2006/relationships/slideLayout" Target="/ppt/slideLayouts/slideLayout3.xml" Id="R4341aadaf3e54d71" /><Relationship Type="http://schemas.openxmlformats.org/officeDocument/2006/relationships/slideLayout" Target="/ppt/slideLayouts/slideLayout4.xml" Id="Re57830dc7c0d4d0b" /><Relationship Type="http://schemas.openxmlformats.org/officeDocument/2006/relationships/slideLayout" Target="/ppt/slideLayouts/slideLayout5.xml" Id="R1d7ec3251964439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9DF8324C-DD91-48C4-8F27-63F19908E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7850"/>
            <a:ext cx="8229600" cy="55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 b="1" i="0" u="none" cap="none">
                <a:solidFill>
                  <a:srgbClr val="EC251D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F9FD1DFD-F3BA-4826-9B28-7D239BDB1E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985870"/>
            <a:ext cx="8229600" cy="415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81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har char="■"/>
              <a:defRPr sz="2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30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har char="○"/>
              <a:defRPr sz="1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429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429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a3b98031fb457a"/>
    <p:sldLayoutId xmlns:r="http://schemas.openxmlformats.org/officeDocument/2006/relationships" id="2147483650" r:id="Rff89bed3cc3f47a7"/>
    <p:sldLayoutId xmlns:r="http://schemas.openxmlformats.org/officeDocument/2006/relationships" id="2147483651" r:id="R4341aadaf3e54d71"/>
    <p:sldLayoutId xmlns:r="http://schemas.openxmlformats.org/officeDocument/2006/relationships" id="2147483652" r:id="Re57830dc7c0d4d0b"/>
    <p:sldLayoutId xmlns:r="http://schemas.openxmlformats.org/officeDocument/2006/relationships" id="2147483653" r:id="R1d7ec32519644391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ayouts">
  <a:themeElements>
    <a:clrScheme name="Marquee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fc8ad6e4554462" /><Relationship Type="http://schemas.openxmlformats.org/officeDocument/2006/relationships/image" Target="/ppt/media/image3.jpeg" Id="R7ec0d0ddf5f7402a" /><Relationship Type="http://schemas.openxmlformats.org/officeDocument/2006/relationships/image" Target="/ppt/media/image.png" Id="Rfff8361d694d4206" /><Relationship Type="http://schemas.openxmlformats.org/officeDocument/2006/relationships/notesSlide" Target="/ppt/notesSlides/notesSlide1.xml" Id="Ra2d91777a9514b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1a7f48191479a" /><Relationship Type="http://schemas.openxmlformats.org/officeDocument/2006/relationships/notesSlide" Target="/ppt/notesSlides/notesSlide2.xml" Id="R1332644ba3c541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75a6d1f2084b9e" /><Relationship Type="http://schemas.openxmlformats.org/officeDocument/2006/relationships/notesSlide" Target="/ppt/notesSlides/notesSlide3.xml" Id="Rb609a731039444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7da3ad7a9a456c" /><Relationship Type="http://schemas.openxmlformats.org/officeDocument/2006/relationships/notesSlide" Target="/ppt/notesSlides/notesSlide4.xml" Id="Rc518131387b440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c144697b174196" /><Relationship Type="http://schemas.openxmlformats.org/officeDocument/2006/relationships/image" Target="/ppt/media/image2.png" Id="R786af21069044ca5" /><Relationship Type="http://schemas.openxmlformats.org/officeDocument/2006/relationships/notesSlide" Target="/ppt/notesSlides/notesSlide5.xml" Id="Rbc21925755ed43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02bee0d59948d8" /><Relationship Type="http://schemas.openxmlformats.org/officeDocument/2006/relationships/notesSlide" Target="/ppt/notesSlides/notesSlide6.xml" Id="R38097cd86d2146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6182d93e6f43c1" /><Relationship Type="http://schemas.openxmlformats.org/officeDocument/2006/relationships/image" Target="/ppt/media/image3.png" Id="R7eb1f6cffece469b" /><Relationship Type="http://schemas.openxmlformats.org/officeDocument/2006/relationships/notesSlide" Target="/ppt/notesSlides/notesSlide7.xml" Id="R5842e99e755b45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5d4bc466e34979" /><Relationship Type="http://schemas.openxmlformats.org/officeDocument/2006/relationships/notesSlide" Target="/ppt/notesSlides/notesSlide8.xml" Id="Rce0048d6cc8c4f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ade883571748bf" /><Relationship Type="http://schemas.openxmlformats.org/officeDocument/2006/relationships/image" Target="/ppt/media/image4.png" Id="Rf612ebb08a6d4ad5" /><Relationship Type="http://schemas.openxmlformats.org/officeDocument/2006/relationships/notesSlide" Target="/ppt/notesSlides/notesSlide9.xml" Id="Rd6a95e77e84c4c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c66f40d2f747ea" /><Relationship Type="http://schemas.openxmlformats.org/officeDocument/2006/relationships/image" Target="/ppt/media/image5.png" Id="Raf50b5e9ca474b5b" /><Relationship Type="http://schemas.openxmlformats.org/officeDocument/2006/relationships/notesSlide" Target="/ppt/notesSlides/notesSlide10.xml" Id="Rbd233153863f41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59daa18a040b6" /><Relationship Type="http://schemas.openxmlformats.org/officeDocument/2006/relationships/notesSlide" Target="/ppt/notesSlides/notesSlide11.xml" Id="R49c0a6a0bb8644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27212cdd784378" /><Relationship Type="http://schemas.openxmlformats.org/officeDocument/2006/relationships/notesSlide" Target="/ppt/notesSlides/notesSlide12.xml" Id="R38cff028c83248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ebf61fb0964393" /><Relationship Type="http://schemas.openxmlformats.org/officeDocument/2006/relationships/image" Target="/ppt/media/image6.png" Id="Rc3497cb5925c42d3" /><Relationship Type="http://schemas.openxmlformats.org/officeDocument/2006/relationships/notesSlide" Target="/ppt/notesSlides/notesSlide13.xml" Id="R23e5799f05a349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79e1d7c4ca4dfd" /><Relationship Type="http://schemas.openxmlformats.org/officeDocument/2006/relationships/notesSlide" Target="/ppt/notesSlides/notesSlide14.xml" Id="Rbc3e666fd8b347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aa8cc3a6342e5" /><Relationship Type="http://schemas.openxmlformats.org/officeDocument/2006/relationships/notesSlide" Target="/ppt/notesSlides/notesSlide15.xml" Id="R3fcdbb48920f45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c61717452c4b3c" /><Relationship Type="http://schemas.openxmlformats.org/officeDocument/2006/relationships/image" Target="/ppt/media/image7.png" Id="R78bc4b8cb28241aa" /><Relationship Type="http://schemas.openxmlformats.org/officeDocument/2006/relationships/notesSlide" Target="/ppt/notesSlides/notesSlide16.xml" Id="Rf238f87fe4024f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87035c17624c3b" /><Relationship Type="http://schemas.openxmlformats.org/officeDocument/2006/relationships/image" Target="/ppt/media/image8.png" Id="R56ec78b64e0d44dd" /><Relationship Type="http://schemas.openxmlformats.org/officeDocument/2006/relationships/notesSlide" Target="/ppt/notesSlides/notesSlide17.xml" Id="R2c83feea9b7440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36f2d141cc4e19" /><Relationship Type="http://schemas.openxmlformats.org/officeDocument/2006/relationships/image" Target="/ppt/media/image9.png" Id="Rf05b984d434e450f" /><Relationship Type="http://schemas.openxmlformats.org/officeDocument/2006/relationships/notesSlide" Target="/ppt/notesSlides/notesSlide18.xml" Id="R5a69f78050b140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a5ee69f1349a9" /><Relationship Type="http://schemas.openxmlformats.org/officeDocument/2006/relationships/image" Target="/ppt/media/image10.png" Id="Rb6a73d07ec064ac1" /><Relationship Type="http://schemas.openxmlformats.org/officeDocument/2006/relationships/notesSlide" Target="/ppt/notesSlides/notesSlide19.xml" Id="R20edd41abb6a4f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0359a25b6c49ac" /><Relationship Type="http://schemas.openxmlformats.org/officeDocument/2006/relationships/notesSlide" Target="/ppt/notesSlides/notesSlide20.xml" Id="Red4d695c746041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bdd9b8bf4443f2" /><Relationship Type="http://schemas.openxmlformats.org/officeDocument/2006/relationships/image" Target="/ppt/media/image11.png" Id="R5ab4d985ef214655" /><Relationship Type="http://schemas.openxmlformats.org/officeDocument/2006/relationships/image" Target="/ppt/media/image12.png" Id="R221aaf55a78641e6" /><Relationship Type="http://schemas.openxmlformats.org/officeDocument/2006/relationships/notesSlide" Target="/ppt/notesSlides/notesSlide21.xml" Id="Re06d16a47c0146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dd394d9a8d4d33" /><Relationship Type="http://schemas.openxmlformats.org/officeDocument/2006/relationships/notesSlide" Target="/ppt/notesSlides/notesSlide22.xml" Id="R3d34d44c0f9946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055df6fec7419b" /><Relationship Type="http://schemas.openxmlformats.org/officeDocument/2006/relationships/notesSlide" Target="/ppt/notesSlides/notesSlide23.xml" Id="R7cc74638e22a44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7cf10912fa4c62" /><Relationship Type="http://schemas.openxmlformats.org/officeDocument/2006/relationships/notesSlide" Target="/ppt/notesSlides/notesSlide24.xml" Id="Rf85701ad33ee4b8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a4193565f04369" /><Relationship Type="http://schemas.openxmlformats.org/officeDocument/2006/relationships/notesSlide" Target="/ppt/notesSlides/notesSlide25.xml" Id="Rdaa91e7e9b2d4a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1" name="Google Shape;76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c0d0ddf5f740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77469" y="1"/>
            <a:ext cx="5903020" cy="51434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2" name="Google Shape;77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f8361d694d4206">
            <a:alphaModFix/>
          </a:blip>
          <a:srcRect xmlns:a="http://schemas.openxmlformats.org/drawingml/2006/main" l="0" t="0" r="40944" b="0"/>
          <a:stretch xmlns:a="http://schemas.openxmlformats.org/drawingml/2006/main"/>
        </p:blipFill>
        <p:spPr>
          <a:xfrm xmlns:a="http://schemas.openxmlformats.org/drawingml/2006/main">
            <a:off x="0" y="0"/>
            <a:ext cx="4050000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9">
            <a:extLst xmlns:a="http://schemas.openxmlformats.org/drawingml/2006/main">
              <a:ext uri="{FF2B5EF4-FFF2-40B4-BE49-F238E27FC236}">
                <a16:creationId xmlns:a16="http://schemas.microsoft.com/office/drawing/2014/main" id="{0ED96653-399D-4668-8764-7CE8225F5080}"/>
              </a:ext>
            </a:extLst>
          </p:cNvPr>
          <p:cNvSpPr>
            <a:spLocks xmlns:a="http://schemas.openxmlformats.org/drawingml/2006/main" noGrp="1"/>
          </p:cNvSpPr>
          <p:nvPr>
            <p:ph type="ctrTitle" idx="4294967295"/>
          </p:nvPr>
        </p:nvSpPr>
        <p:spPr>
          <a:xfrm xmlns:a="http://schemas.openxmlformats.org/drawingml/2006/main">
            <a:off x="274320" y="1234440"/>
            <a:ext cx="324612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300" b="1">
                <a:solidFill>
                  <a:srgbClr val="F1F1F1"/>
                </a:solidFill>
                <a:latin typeface="Arial"/>
                <a:ea typeface="Arial"/>
                <a:cs typeface="Arial"/>
              </a:rPr>
              <a:t>Week 4 Workshop:
Sensors and Actuators</a:t>
            </a:r>
          </a:p>
          <a:p xmlns:a="http://schemas.openxmlformats.org/drawingml/2006/main">
            <a:pPr>
              <a:spcBef>
                <a:spcPts val="1200"/>
              </a:spcBef>
              <a:buNone/>
            </a:pPr>
            <a:r>
              <a:rPr sz="1400">
                <a:solidFill>
                  <a:srgbClr val="F6D6D4"/>
                </a:solidFill>
                <a:latin typeface="Arial"/>
                <a:ea typeface="Arial"/>
                <a:cs typeface="Arial"/>
              </a:rPr>
              <a:t>3707ICT Automation and IoT</a:t>
            </a:r>
          </a:p>
        </p:txBody>
      </p:sp>
    </p:spTree>
    <p:extLst>
      <p:ext uri="{BB962C8B-B14F-4D97-AF65-F5344CB8AC3E}">
        <p14:creationId xmlns:p14="http://schemas.microsoft.com/office/powerpoint/2010/main" val="10645418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9E3BB78-2116-4D72-95BC-03337E1175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From Reading Pins to Sensing and Acting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8EB798F-A001-43B5-9925-09D7BB13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544068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sz="14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 Week 3 your board read a button and drove an LED. This week it measures the real world and acts on it.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sz="160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Learning outcomes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4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Sensors:</a:t>
            </a: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explain what a sensor is and classify its output signal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4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Signals:</a:t>
            </a: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tell digital, analog, PWM and protocol devices apart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4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Reading:</a:t>
            </a: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get temperature and humidity from a DHT22 into the ESP32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4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Actuators:</a:t>
            </a: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drive a servo, and know when a driver or relay is needed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4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Automation:</a:t>
            </a: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build rule-based control from one and many conditions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BC7ECE4-3E8E-4C0D-9E20-56CE089E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932688"/>
            <a:ext cx="2743200" cy="2190114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2CA9D16-BEC9-4076-904F-31CC292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033272"/>
            <a:ext cx="2450592" cy="19889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The loop you will build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Environment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→ Sensor (DHT22)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→ Microcontroller (ESP32)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→ Control logic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→ Actuator (servo)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→ </a:t>
            </a: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560ECD-A334-49D9-BD8D-B5981525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6812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Learn a concept, then build it: five hands-on tasks grow into one system — connect → read → attach → automate → extend.</a:t>
            </a:r>
          </a:p>
        </p:txBody>
      </p:sp>
    </p:spTree>
    <p:extLst>
      <p:ext uri="{BB962C8B-B14F-4D97-AF65-F5344CB8AC3E}">
        <p14:creationId xmlns:p14="http://schemas.microsoft.com/office/powerpoint/2010/main" val="10419919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9786C5C-54FA-4F91-977B-1D6DE475A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Workshop Roadmap</a:t>
            </a:r>
          </a:p>
        </p:txBody>
      </p:sp>
      <p:graphicFrame>
        <p:nvGraphicFramePr>
          <p:cNvPr id="8" name="Table 3"/>
          <p:cNvGraphicFramePr/>
          <p:nvPr/>
        </p:nvGraphicFramePr>
        <p:xfrm>
          <a:off xmlns:a="http://schemas.openxmlformats.org/drawingml/2006/main" x="457200" y="932688"/>
          <a:ext xmlns:a="http://schemas.openxmlformats.org/drawingml/2006/main" cx="8229600" cy="263347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640080"/>
                <a:gridCol w="2377440"/>
                <a:gridCol w="5212080"/>
              </a:tblGrid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you take away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Sensors and actuators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What each one does, and how they pair up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Signals and the DHT22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Digital vs analog, the ADC, and this week's sensor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Tasks 1–2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Wire the DHT22, then read it every two seconds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Actuators and the servo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On/off, PWM, and how a servo takes its position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Task 3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Attach the servo to the same circuit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Control logic + Tasks 4–5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Thresholds, hysteresis and rule-based automation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AC4934A-58ED-4D72-B1F2-46483125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4528"/>
            <a:ext cx="6675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Each block of theory is followed straight away by the task that uses it — all in Wokwi, no physical hardware needed.</a:t>
            </a:r>
          </a:p>
        </p:txBody>
      </p:sp>
    </p:spTree>
    <p:extLst>
      <p:ext uri="{BB962C8B-B14F-4D97-AF65-F5344CB8AC3E}">
        <p14:creationId xmlns:p14="http://schemas.microsoft.com/office/powerpoint/2010/main" val="12619920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3BCF91F1-7DA8-4D48-885A-7F6A464B5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The Three Blocks of an Embedded System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188E8AF-1C96-4DD1-A5CE-969A5ABC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95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Every automation system in this course is a variation on this chain.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BD02968-AFBF-4FF8-B8F4-AC6C7915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481328"/>
            <a:ext cx="1627632" cy="84124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787C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12700" rIns="38100" bIns="127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Physical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cxnSp>
        <p:nvCxnSpPr>
          <p:cNvPr id="27" name="Connector 5"/>
          <p:cNvCxnSpPr/>
          <p:nvPr/>
        </p:nvCxnSpPr>
        <p:spPr>
          <a:xfrm xmlns:a="http://schemas.openxmlformats.org/drawingml/2006/main">
            <a:off x="2011680" y="1901952"/>
            <a:ext cx="329184" cy="0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222222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A69FC24-1AC1-4FE3-AC31-DC3B8841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016" y="1481328"/>
            <a:ext cx="1627632" cy="84124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8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12700" rIns="38100" bIns="127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Sensor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measures it</a:t>
            </a:r>
          </a:p>
        </p:txBody>
      </p:sp>
      <p:cxnSp>
        <p:nvCxnSpPr>
          <p:cNvPr id="29" name="Connector 7"/>
          <p:cNvCxnSpPr/>
          <p:nvPr/>
        </p:nvCxnSpPr>
        <p:spPr>
          <a:xfrm xmlns:a="http://schemas.openxmlformats.org/drawingml/2006/main">
            <a:off x="4105656" y="1901952"/>
            <a:ext cx="329184" cy="0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222222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31E320C-D60F-4439-8782-4F6199D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481328"/>
            <a:ext cx="1627632" cy="84124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3D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12700" rIns="38100" bIns="127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Microcontroller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decides</a:t>
            </a:r>
          </a:p>
        </p:txBody>
      </p:sp>
      <p:cxnSp>
        <p:nvCxnSpPr>
          <p:cNvPr id="31" name="Connector 9"/>
          <p:cNvCxnSpPr/>
          <p:nvPr/>
        </p:nvCxnSpPr>
        <p:spPr>
          <a:xfrm xmlns:a="http://schemas.openxmlformats.org/drawingml/2006/main">
            <a:off x="6199632" y="1901952"/>
            <a:ext cx="329184" cy="0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222222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ACE7003-EC9C-4F1B-8747-97145D58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481328"/>
            <a:ext cx="1627632" cy="84124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9E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12700" rIns="38100" bIns="127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Actuator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acts on it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3871E-C867-4765-A063-51384153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1207008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6AAA80D-BDC7-4F6D-B5AC-F93F8B1C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1207008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9A93056-4F8E-46B8-AB3E-005C1363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1207008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command</a:t>
            </a:r>
          </a:p>
        </p:txBody>
      </p:sp>
      <p:cxnSp>
        <p:nvCxnSpPr>
          <p:cNvPr id="36" name="Connector 14"/>
          <p:cNvCxnSpPr/>
          <p:nvPr/>
        </p:nvCxnSpPr>
        <p:spPr>
          <a:xfrm xmlns:a="http://schemas.openxmlformats.org/drawingml/2006/main">
            <a:off x="7415783" y="2322576"/>
            <a:ext cx="0" cy="347472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1A8A3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7" name="Connector 15"/>
          <p:cNvCxnSpPr/>
          <p:nvPr/>
        </p:nvCxnSpPr>
        <p:spPr>
          <a:xfrm xmlns:a="http://schemas.openxmlformats.org/drawingml/2006/main" flipH="1">
            <a:off x="1133856" y="2670048"/>
            <a:ext cx="6281927" cy="0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1A8A3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8" name="Connector 16"/>
          <p:cNvCxnSpPr/>
          <p:nvPr/>
        </p:nvCxnSpPr>
        <p:spPr>
          <a:xfrm xmlns:a="http://schemas.openxmlformats.org/drawingml/2006/main" flipV="1">
            <a:off x="1133856" y="2322576"/>
            <a:ext cx="0" cy="347472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1A8A3E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1EC1055-F12E-4EDA-A932-D098D14B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688336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0" i="0">
                <a:solidFill>
                  <a:srgbClr val="1A8A3E"/>
                </a:solidFill>
                <a:latin typeface="Arial"/>
                <a:ea typeface="Arial"/>
                <a:cs typeface="Arial"/>
              </a:rPr>
              <a:t>the action changes the environment — and the sensor measures it again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D3D8F8D-76D5-429F-B56E-012180A5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0128"/>
            <a:ext cx="4041648" cy="1034415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CF6EF"/>
          </a:solidFill>
          <a:ln xmlns:a="http://schemas.openxmlformats.org/drawingml/2006/main" w="12700">
            <a:solidFill>
              <a:srgbClr val="1A8A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2E0F8ED-CFE2-46CC-B249-418C57ED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410712"/>
            <a:ext cx="3749039" cy="833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1A8A3E"/>
                </a:solidFill>
                <a:latin typeface="Arial"/>
                <a:ea typeface="Arial"/>
                <a:cs typeface="Arial"/>
              </a:rPr>
              <a:t>Sensor side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Physical quantity → electrical signal the ESP32 can read.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06F6EA3-B5C1-4E94-9BCE-875CB68B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310128"/>
            <a:ext cx="4041648" cy="1034415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DF3E2"/>
          </a:solidFill>
          <a:ln xmlns:a="http://schemas.openxmlformats.org/drawingml/2006/main" w="12700">
            <a:solidFill>
              <a:srgbClr val="F59E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49B344F-B4EB-4467-B845-E361731A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3410712"/>
            <a:ext cx="3749039" cy="833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B07000"/>
                </a:solidFill>
                <a:latin typeface="Arial"/>
                <a:ea typeface="Arial"/>
                <a:cs typeface="Arial"/>
              </a:rPr>
              <a:t>Actuator side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Control signal → a physical change in the environment.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210AB15-C9DA-4C22-9F74-65475B39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8848"/>
            <a:ext cx="6675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spAutoFit/>
          </a:bodyPr>
          <a:lstStyle xmlns:a="http://schemas.openxmlformats.org/drawingml/2006/main"/>
          <a:p xmlns:a="http://schemas.openxmlformats.org/drawingml/2006/main">
            <a:r>
              <a:rPr sz="1300" b="0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Input can also come from a user (buttons, an app) or from the network (Wi-Fi, MQTT).</a:t>
            </a:r>
          </a:p>
        </p:txBody>
      </p:sp>
    </p:spTree>
    <p:extLst>
      <p:ext uri="{BB962C8B-B14F-4D97-AF65-F5344CB8AC3E}">
        <p14:creationId xmlns:p14="http://schemas.microsoft.com/office/powerpoint/2010/main" val="9649115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77F1C10D-440C-4127-8AF8-FE31D72AA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What Is a Sensor?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4E981A-B1FA-4CB8-B8C3-EB1A8F20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8321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sz="14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 </a:t>
            </a:r>
            <a:r>
              <a:rPr sz="14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sensor</a:t>
            </a:r>
            <a:r>
              <a:rPr sz="14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detects or measures a physical quantity and converts it into a signal an electronic system can process.</a:t>
            </a: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af21069044c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3799" y="1417319"/>
            <a:ext cx="6756400" cy="173736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Table 5"/>
          <p:cNvGraphicFramePr/>
          <p:nvPr/>
        </p:nvGraphicFramePr>
        <p:xfrm>
          <a:off xmlns:a="http://schemas.openxmlformats.org/drawingml/2006/main" x="457200" y="3200400"/>
          <a:ext xmlns:a="http://schemas.openxmlformats.org/drawingml/2006/main" cx="8229600" cy="111556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03120"/>
                <a:gridCol w="2011680"/>
                <a:gridCol w="2103120"/>
                <a:gridCol w="2011680"/>
              </a:tblGrid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Typical sensor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Typical sensor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Temperature / humidity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DHT22, BME280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Motion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PIR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Light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LDR, photodiode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Distance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Ultrasonic, ToF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Acceleration / rotation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MPU6050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Sound, image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Microphone, camera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901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A696361-4996-410B-AA88-21D98FFC5B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What Is an Actuator?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5618D2-24C6-4173-8FCD-CC0CCEDF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8321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sz="14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An </a:t>
            </a:r>
            <a:r>
              <a:rPr sz="14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actuator</a:t>
            </a:r>
            <a:r>
              <a:rPr sz="14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takes a control signal from the microcontroller and produces a physical change in the environment.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73D9914-EB45-44C8-AB99-25B817CA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2606040" cy="80467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9E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12700" rIns="38100" bIns="127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Motion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DC motor, stepper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867B0BB-B08B-4231-8808-A8FCCAEE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737360"/>
            <a:ext cx="2606040" cy="80467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9E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12700" rIns="38100" bIns="127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Position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Servo motor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BA92B34-64F1-4873-BDB0-2014D0C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737360"/>
            <a:ext cx="2606040" cy="80467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3D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12700" rIns="38100" bIns="127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Switching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Relay, solid-state relay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D55FC4F-1F8C-4D89-91AD-B5727631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2606040" cy="80467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8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12700" rIns="38100" bIns="127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Light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LED, lamp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9C5ADB4-3FE9-4A42-9B99-4A0AC244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43200"/>
            <a:ext cx="2606040" cy="80467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8A3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12700" rIns="38100" bIns="127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Sound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Buzzer, speaker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AB2FC3E-0A11-434C-A1BB-8F5F552D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743200"/>
            <a:ext cx="2606040" cy="80467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787C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12700" rIns="38100" bIns="12700" anchor="ctr"/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 / heat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Solenoid valve, heater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9A81CB7-877F-41EA-9ABE-E5C8F16F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6675120" cy="774446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FACC797-4FCB-4062-967D-CC1F7437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941064"/>
            <a:ext cx="6382512" cy="5732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 </a:t>
            </a: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transducer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converts one form of energy into another. A sensor is an input transducer; an actuator is an output transducer.</a:t>
            </a:r>
          </a:p>
        </p:txBody>
      </p:sp>
    </p:spTree>
    <p:extLst>
      <p:ext uri="{BB962C8B-B14F-4D97-AF65-F5344CB8AC3E}">
        <p14:creationId xmlns:p14="http://schemas.microsoft.com/office/powerpoint/2010/main" val="20504344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0CA25983-255B-4C1A-9BD1-780063234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Analog and Digital Signals</a:t>
            </a: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1f6cffece46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244637"/>
            <a:ext cx="5623560" cy="2410097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4F95595-8407-4AB1-B51C-20C2D38F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932688"/>
            <a:ext cx="2560320" cy="1574165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9B43BD-8829-40DC-B1EB-CC57D3E9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033272"/>
            <a:ext cx="2267712" cy="1372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Digital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Two valid states only.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Read directly with </a:t>
            </a:r>
            <a:r>
              <a:rPr sz="125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digitalRead()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Immune to small voltage noise.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FAE9F02-4425-432B-A0A3-F969EFCE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60320"/>
            <a:ext cx="2560320" cy="1574165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DF3E2"/>
          </a:solidFill>
          <a:ln xmlns:a="http://schemas.openxmlformats.org/drawingml/2006/main" w="12700">
            <a:solidFill>
              <a:srgbClr val="F59E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75790A1-85AF-4901-9B10-83E39FDD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660903"/>
            <a:ext cx="2267712" cy="1372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B07000"/>
                </a:solidFill>
                <a:latin typeface="Arial"/>
                <a:ea typeface="Arial"/>
                <a:cs typeface="Arial"/>
              </a:rPr>
              <a:t>Analog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Any value in the range.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Needs an </a:t>
            </a: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ADC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to become a number.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Noise changes the reading.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F2C2A39-9FBA-4B91-842F-0BABC76D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8224"/>
            <a:ext cx="5669280" cy="457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spAutoFit/>
          </a:bodyPr>
          <a:lstStyle xmlns:a="http://schemas.openxmlformats.org/drawingml/2006/main"/>
          <a:p xmlns:a="http://schemas.openxmlformats.org/drawingml/2006/main">
            <a:r>
              <a:rPr sz="1300" b="0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The DHT22 is digital, but with its </a:t>
            </a:r>
            <a:r>
              <a:rPr sz="1300" b="1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own one-wire protocol</a:t>
            </a:r>
            <a:r>
              <a:rPr sz="1300" b="0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 — not a simple HIGH/LOW pin.</a:t>
            </a:r>
          </a:p>
        </p:txBody>
      </p:sp>
    </p:spTree>
    <p:extLst>
      <p:ext uri="{BB962C8B-B14F-4D97-AF65-F5344CB8AC3E}">
        <p14:creationId xmlns:p14="http://schemas.microsoft.com/office/powerpoint/2010/main" val="21075640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DC881C1-DFEF-4D1E-8D64-19549532E6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Reading a Sensor with a Microcontroller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457200" y="932688"/>
          <a:ext xmlns:a="http://schemas.openxmlformats.org/drawingml/2006/main" cx="8229600" cy="192024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48840"/>
                <a:gridCol w="3200400"/>
                <a:gridCol w="2880360"/>
              </a:tblGrid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If the sensor is…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You use…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 code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Two-state digital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 GPIO pin in INPUT mode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digitalRead(PIN)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Analog voltage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An ADC channel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analogRead(PIN)</a:t>
                      </a: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 → 0 … 4095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Vendor protocol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 driver library that handles the timing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dht.readTemperature()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 bus device (I²C / SPI)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The bus peripheral plus a library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Wire.begin()</a:t>
                      </a: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SPI.begin()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7775D2D-10D3-4FC4-9768-D60AC47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8229600" cy="130429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133F975-C7B7-4FE0-81F9-F01DA0DB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118103"/>
            <a:ext cx="7936992" cy="110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Why Task 1 installs two libraries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DHT22 encodes 40 bits as pulse widths on a single wire, with timing measured in microseconds.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DHT sensor library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decodes that frame; </a:t>
            </a:r>
            <a:r>
              <a:rPr sz="125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Adafruit Unified Sensor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is the shared base class it depends on. Without both, the sketch will not compile.</a:t>
            </a:r>
          </a:p>
        </p:txBody>
      </p:sp>
    </p:spTree>
    <p:extLst>
      <p:ext uri="{BB962C8B-B14F-4D97-AF65-F5344CB8AC3E}">
        <p14:creationId xmlns:p14="http://schemas.microsoft.com/office/powerpoint/2010/main" val="17816644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27745D5B-E5C8-4CA1-A100-6C7E82F9B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ADC — Turning a Voltage into a Number</a:t>
            </a:r>
          </a:p>
        </p:txBody>
      </p:sp>
      <p:pic>
        <p:nvPicPr>
          <p:cNvPr id="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2ebb08a6d4a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380090"/>
            <a:ext cx="5486400" cy="2351314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0ADB074-A081-4BC1-8DDB-34685CFA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32688"/>
            <a:ext cx="2651760" cy="1874519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992C9C-6F96-4DE8-ABE9-6F561109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033272"/>
            <a:ext cx="2359152" cy="1673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On the ESP32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12-bit ADC → </a:t>
            </a:r>
            <a:r>
              <a:rPr sz="1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 … 4095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Reference ≈ </a:t>
            </a:r>
            <a:r>
              <a:rPr sz="1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3.3 V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ADC1 (GPIO 32–39) keeps working while Wi-Fi is on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ADC2 conflicts with Wi-Fi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CD54131-CC7B-4ED9-BA34-2223310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2651760" cy="1207008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CF6EF"/>
          </a:solidFill>
          <a:ln xmlns:a="http://schemas.openxmlformats.org/drawingml/2006/main" w="12700">
            <a:solidFill>
              <a:srgbClr val="1A8A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1C43E77-D810-485C-91E5-C65E54C4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072384"/>
            <a:ext cx="235915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1A8A3E"/>
                </a:solidFill>
                <a:latin typeface="Arial"/>
                <a:ea typeface="Arial"/>
                <a:cs typeface="Arial"/>
              </a:rPr>
              <a:t>Worked example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Reading = </a:t>
            </a: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2048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2048 / 4095 × 3.3 ≈ </a:t>
            </a: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1.65 V</a:t>
            </a:r>
          </a:p>
        </p:txBody>
      </p:sp>
    </p:spTree>
    <p:extLst>
      <p:ext uri="{BB962C8B-B14F-4D97-AF65-F5344CB8AC3E}">
        <p14:creationId xmlns:p14="http://schemas.microsoft.com/office/powerpoint/2010/main" val="15644294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1CE609F-1741-4F2B-9355-00F89D113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The DHT22 — This Week's Sensor</a:t>
            </a:r>
          </a:p>
        </p:txBody>
      </p:sp>
      <p:graphicFrame>
        <p:nvGraphicFramePr>
          <p:cNvPr id="12" name="Table 3"/>
          <p:cNvGraphicFramePr/>
          <p:nvPr/>
        </p:nvGraphicFramePr>
        <p:xfrm>
          <a:off xmlns:a="http://schemas.openxmlformats.org/drawingml/2006/main" x="457200" y="932688"/>
          <a:ext xmlns:a="http://schemas.openxmlformats.org/drawingml/2006/main" cx="4617720" cy="215798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65960"/>
                <a:gridCol w="2651760"/>
              </a:tblGrid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 value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Supply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≈ 3–5 V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Temperature range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≈ −40 … 80 °C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Humidity range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≈ 0 … 100 % RH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Signal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Digital, single-wire vendor protocol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Minimum read interval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≈ 2 seconds (≈ 0.5 Hz)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Pins (bare sensor)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VCC, DATA, NC, GND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DBE8E66-27CC-41B6-94B5-78854FD5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87752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One read every two seconds — no faster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9702CCE-3771-44D3-BB8D-D6232561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8688"/>
            <a:ext cx="8366760" cy="987552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ECB0417-DDCB-414A-945D-5415EAB6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00984"/>
            <a:ext cx="807415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Two practical rules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Read no faster than once every 2 s — otherwise you get a stale value or NaN. Every sketch this week calls delay(2000).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 bare DHT22 needs a 4.7–10 kΩ pull-up on DATA; breakout modules and the Wokwi part already include it.</a:t>
            </a:r>
          </a:p>
        </p:txBody>
      </p:sp>
      <p:pic>
        <p:nvPicPr>
          <p:cNvPr id="16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0b5e9ca474b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0" y="1051560"/>
            <a:ext cx="3520440" cy="13880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373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371661F1-3BAC-423A-A2C8-E6506192D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Before You Wire Anything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7CB8EEC-D227-48A0-A41C-C1D38C5F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5029200" cy="3154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sz="160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Five questions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800"/>
              </a:spcAft>
              <a:buChar char="■"/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Is the device </a:t>
            </a:r>
            <a:r>
              <a:rPr sz="14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digital, analog, PWM</a:t>
            </a: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or on a bus?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800"/>
              </a:spcAft>
              <a:buChar char="■"/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Does it use I²C, SPI, UART or its own protocol?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800"/>
              </a:spcAft>
              <a:buChar char="■"/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Is the signal pin </a:t>
            </a:r>
            <a:r>
              <a:rPr sz="14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3.3 V or 5 V</a:t>
            </a: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?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800"/>
              </a:spcAft>
              <a:buChar char="■"/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Does it need a pull-up or pull-down resistor?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800"/>
              </a:spcAft>
              <a:buChar char="■"/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Do I have enough pins, timers and ADC channels?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5F5C74B-E531-45B1-A0CA-4BF6A4D3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32688"/>
            <a:ext cx="3108960" cy="1481328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DF3E2"/>
          </a:solidFill>
          <a:ln xmlns:a="http://schemas.openxmlformats.org/drawingml/2006/main" w="12700">
            <a:solidFill>
              <a:srgbClr val="F59E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78F6F0C-3EED-46FC-A81E-4E5D4EAA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1033272"/>
            <a:ext cx="2816352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B07000"/>
                </a:solidFill>
                <a:latin typeface="Arial"/>
                <a:ea typeface="Arial"/>
                <a:cs typeface="Arial"/>
              </a:rPr>
              <a:t>Logic level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ESP32 runs at </a:t>
            </a: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3.3 V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logic.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For a 5 V output, use a divider, a level shifter, or pick a 3.3 V module.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A96BBCF-EAC2-4170-A95A-17B810C3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8608"/>
            <a:ext cx="3108960" cy="164592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DEEED"/>
          </a:solidFill>
          <a:ln xmlns:a="http://schemas.openxmlformats.org/drawingml/2006/main" w="12700">
            <a:solidFill>
              <a:srgbClr val="EC2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AE7ECC-0C69-47C4-B2A4-9CD59410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679191"/>
            <a:ext cx="2816352" cy="1444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EC251D"/>
                </a:solidFill>
                <a:latin typeface="Arial"/>
                <a:ea typeface="Arial"/>
                <a:cs typeface="Arial"/>
              </a:rPr>
              <a:t>Current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 GPIO pin carries a </a:t>
            </a: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signal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, not power.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Never power motors, pumps, solenoids, bare relay coils or several servos straight from a pin.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0BDB922-35F4-4CC5-871F-D0DC6B4C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5968"/>
            <a:ext cx="5029200" cy="457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spAutoFit/>
          </a:bodyPr>
          <a:lstStyle xmlns:a="http://schemas.openxmlformats.org/drawingml/2006/main"/>
          <a:p xmlns:a="http://schemas.openxmlformats.org/drawingml/2006/main">
            <a:r>
              <a:rPr sz="1300" b="0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Two supplies? Then </a:t>
            </a:r>
            <a:r>
              <a:rPr sz="1300" b="1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tie the grounds together</a:t>
            </a:r>
            <a:r>
              <a:rPr sz="1300" b="0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, unless they are properly isolated.</a:t>
            </a:r>
          </a:p>
        </p:txBody>
      </p:sp>
    </p:spTree>
    <p:extLst>
      <p:ext uri="{BB962C8B-B14F-4D97-AF65-F5344CB8AC3E}">
        <p14:creationId xmlns:p14="http://schemas.microsoft.com/office/powerpoint/2010/main" val="18166844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F348362-2C06-4BD3-A124-041154D8BD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The Five Tasks — One System, Built Up in Stages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457200" y="932688"/>
          <a:ext xmlns:a="http://schemas.openxmlformats.org/drawingml/2006/main" cx="8229600" cy="2231136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685800"/>
                <a:gridCol w="3063240"/>
                <a:gridCol w="2057400"/>
                <a:gridCol w="2423160"/>
              </a:tblGrid>
              <a:tr h="3108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you add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New hardware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New code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Connect a DHT22 and initialise it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DHT22 on GPIO 15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DHT.h</a:t>
                      </a: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dht.begin()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Read and display values every 2 s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— (same circuit)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readTemperature()</a:t>
                      </a: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isnan()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Attach a servo motor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Servo on GPIO 13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ESP32Servo.h</a:t>
                      </a: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attach()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One rule: open the vent above 30 °C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— (same circuit)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 / else</a:t>
                      </a: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myServo.write()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Three states from two measurements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— (same circuit)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 / else if / else</a:t>
                      </a: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&amp;&amp;</a:t>
                      </a: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||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7F9FA7B-CBF0-48DE-82F0-74600060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8229600" cy="774446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5555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6D786B9-ACE9-47DC-92D5-BADDA9DB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712464"/>
            <a:ext cx="7936992" cy="5732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Every task reuses the previous circuit. Baud rate is </a:t>
            </a: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115200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throughout, and every sketch waits </a:t>
            </a: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2000 ms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between DHT22 reads.</a:t>
            </a:r>
          </a:p>
        </p:txBody>
      </p:sp>
    </p:spTree>
    <p:extLst>
      <p:ext uri="{BB962C8B-B14F-4D97-AF65-F5344CB8AC3E}">
        <p14:creationId xmlns:p14="http://schemas.microsoft.com/office/powerpoint/2010/main" val="144424360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ADE7EC55-AFAD-4B18-B23B-996E65E6D6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Task 1 — Connect the DHT22</a:t>
            </a: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97cb5925c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1104464"/>
            <a:ext cx="5349240" cy="2445366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Table 4"/>
          <p:cNvGraphicFramePr/>
          <p:nvPr/>
        </p:nvGraphicFramePr>
        <p:xfrm>
          <a:off xmlns:a="http://schemas.openxmlformats.org/drawingml/2006/main" x="5897880" y="932688"/>
          <a:ext xmlns:a="http://schemas.openxmlformats.org/drawingml/2006/main" cx="2926080" cy="1225296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00200"/>
                <a:gridCol w="1325880"/>
              </a:tblGrid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DHT22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ESP32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VCC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3V3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DATA / SDA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GPIO 15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GND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GND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9CB636D-622D-4282-9B4B-549AE74D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926080" cy="141732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638C073-EB4D-4177-95C2-FB1FC1C3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386584"/>
            <a:ext cx="2633472" cy="1216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Libraries to install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DHT sensor library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Adafruit Unified Sensor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Both by Adafruit. The Wokwi part includes the pull-up.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0F4C96F-6331-4A62-8033-EB99A5DB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703320"/>
            <a:ext cx="5394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Wire colours match the project file: red = 3V3, green = data, black = GND.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Serial Monitor at 115200 baud.</a:t>
            </a:r>
          </a:p>
        </p:txBody>
      </p:sp>
    </p:spTree>
    <p:extLst>
      <p:ext uri="{BB962C8B-B14F-4D97-AF65-F5344CB8AC3E}">
        <p14:creationId xmlns:p14="http://schemas.microsoft.com/office/powerpoint/2010/main" val="14622414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1555E69-0892-4249-8BD6-69A7822B2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Task 1 — The Sketch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522801E1-0A09-47B7-A04F-E56CAB3F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4892040" cy="3310128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6D69F1A-7FF6-4E9F-88AE-4BEEB445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024128"/>
            <a:ext cx="4617720" cy="3127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#include &lt;DHT.h&gt;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#define DHTPIN 15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#define DHTTYPE DHT22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DHT dht(DHTPIN, DHTTYPE);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void setup()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Serial.begin(115200);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delay(1000);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Serial.println(</a:t>
            </a:r>
            <a:r>
              <a:rPr sz="11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"Initializing DHT22 sensor..."</a:t>
            </a: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dht.begin();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Serial.println(</a:t>
            </a:r>
            <a:r>
              <a:rPr sz="11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"DHT22 sensor initialized."</a:t>
            </a: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void loop()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  // Sensor readings will be added in Task 2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F37882B-F090-4BD7-A9CC-8250CBF7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932688"/>
            <a:ext cx="32461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Line by line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#define DHTPIN 15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names the data pin.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DHT dht(DHTPIN, DHTTYPE);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creates the driver object.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dht.begin();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prepares the pin and its timing.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loop() stays empty — readings arrive in Task 2.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4CA1AA1-6DF6-47F6-A38F-381C2A95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035808"/>
            <a:ext cx="3246120" cy="1207008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1A8A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27A35-B96B-496B-B123-031E4B43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144" y="3127248"/>
            <a:ext cx="2953512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A8A3E"/>
                </a:solidFill>
                <a:latin typeface="Arial"/>
                <a:ea typeface="Arial"/>
                <a:cs typeface="Arial"/>
              </a:rPr>
              <a:t>Success looks like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Initializing DHT22 sensor...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DHT22 sensor initialized.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 compile error means a library is missing.</a:t>
            </a:r>
          </a:p>
        </p:txBody>
      </p:sp>
    </p:spTree>
    <p:extLst>
      <p:ext uri="{BB962C8B-B14F-4D97-AF65-F5344CB8AC3E}">
        <p14:creationId xmlns:p14="http://schemas.microsoft.com/office/powerpoint/2010/main" val="16631669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0F2F475-172D-4E5D-B401-B42A2C58C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Task 2 — Read and Display the Values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431928E-807E-4CA3-B3C3-77953239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5120640" cy="347472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BDDF10-8F3B-4FEB-9C02-B385E46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024128"/>
            <a:ext cx="4846320" cy="32918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void loop()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delay(2000);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float humidity = dht.readHumidity();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float temperature = dht.readTemperature();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if (isnan(humidity) || isnan(temperature))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Serial.println(</a:t>
            </a:r>
            <a:r>
              <a:rPr sz="115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"Failed to read from 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       </a:t>
            </a:r>
            <a:r>
              <a:rPr sz="115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"DHT22 sensor!"</a:t>
            </a: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return;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Serial.print(</a:t>
            </a:r>
            <a:r>
              <a:rPr sz="115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"Humidity: "</a:t>
            </a: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Serial.print(humidity, 2);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Serial.print(</a:t>
            </a:r>
            <a:r>
              <a:rPr sz="115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"% | Temperature: "</a:t>
            </a: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Serial.print(temperature, 2);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Serial.println(</a:t>
            </a:r>
            <a:r>
              <a:rPr sz="115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 °C"</a:t>
            </a: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1B24B2C-1F79-4ACF-8F03-39DC6707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932688"/>
            <a:ext cx="306324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How it works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delay(2000)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respects the sensor's minimum interval.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||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either invalid value aborts the cycle.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return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leaves loop() early; Arduino calls it again.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print(value, 2)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gives two decimal places.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D19069D-44C6-48A2-A8C6-0198C843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999232"/>
            <a:ext cx="3063240" cy="1243584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1A8A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02C4587-B243-485F-8743-DBC3317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3090672"/>
            <a:ext cx="2770632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A8A3E"/>
                </a:solidFill>
                <a:latin typeface="Arial"/>
                <a:ea typeface="Arial"/>
                <a:cs typeface="Arial"/>
              </a:rPr>
              <a:t>Serial Monitor shows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Humidity: 50.00%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Temperature: 24.00 °C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…or, on a bad read: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C251D"/>
                </a:solidFill>
                <a:latin typeface="Courier New"/>
                <a:ea typeface="Courier New"/>
                <a:cs typeface="Courier New"/>
              </a:rPr>
              <a:t>Failed to read from DHT22</a:t>
            </a:r>
          </a:p>
        </p:txBody>
      </p:sp>
    </p:spTree>
    <p:extLst>
      <p:ext uri="{BB962C8B-B14F-4D97-AF65-F5344CB8AC3E}">
        <p14:creationId xmlns:p14="http://schemas.microsoft.com/office/powerpoint/2010/main" val="16236274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76A1CF9-50A5-4859-BD46-07D735BCC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Driving an Actuator: On/Off, or Anywhere In Between</a:t>
            </a: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c4b8cb28241aa"/>
          <a:srcRect xmlns:a="http://schemas.openxmlformats.org/drawingml/2006/main" l="0" t="0" r="0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024128"/>
            <a:ext cx="5120640" cy="2018995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26C7818-3ABA-4F28-ACEB-B1CFE76B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932688"/>
            <a:ext cx="2560320" cy="233172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B85E57-553C-4A23-9E56-FAC7480F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033271"/>
            <a:ext cx="2267712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Duty cycle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fraction of each period the pin spends HIGH.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0 % = off, 100 % = fully on.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Used for LED brightness, motor speed and heater power.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434E1E3-1DA2-495A-8DCE-7446E2B6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7408"/>
            <a:ext cx="6675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The pin only ever outputs 0 V or 3.3 V — switching fast enough makes the average behave like an in-between voltage.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D477748-E9A3-452D-B884-FC2E2371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8688"/>
            <a:ext cx="5120640" cy="1115568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45259CD-DFB4-48B4-85FA-4D7E7DE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10128"/>
            <a:ext cx="48463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digitalWrite(PIN, HIGH);   // fully 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digitalWrite(PIN, LOW);    // fully off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ledcWrite(channel, duty);  // anywhere between</a:t>
            </a:r>
          </a:p>
        </p:txBody>
      </p:sp>
    </p:spTree>
    <p:extLst>
      <p:ext uri="{BB962C8B-B14F-4D97-AF65-F5344CB8AC3E}">
        <p14:creationId xmlns:p14="http://schemas.microsoft.com/office/powerpoint/2010/main" val="5664867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273E1747-28EE-4AAA-A9FD-B7FEF2171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Servo Motors — Position from Pulse Width</a:t>
            </a:r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c78b64e0d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43653"/>
            <a:ext cx="5577840" cy="2549869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02536E4-9192-44A1-8779-E95E16E1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932688"/>
            <a:ext cx="2606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Inside a servo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4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Gearbox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4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Control circuit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4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Position feedback sensor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4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Output shaft, ≈ 0–180°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Three wires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4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Red = power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4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Black / brown = GND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4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Yellow / orange = signal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F4E510-6060-43FC-83C1-D72FC4A7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1648"/>
            <a:ext cx="6675120" cy="457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spAutoFit/>
          </a:bodyPr>
          <a:lstStyle xmlns:a="http://schemas.openxmlformats.org/drawingml/2006/main"/>
          <a:p xmlns:a="http://schemas.openxmlformats.org/drawingml/2006/main">
            <a:r>
              <a:rPr sz="1300" b="0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A servo pulse is </a:t>
            </a:r>
            <a:r>
              <a:rPr sz="1300" b="1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not</a:t>
            </a:r>
            <a:r>
              <a:rPr sz="1300" b="0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 the same as </a:t>
            </a:r>
            <a:r>
              <a:rPr sz="1300" b="0" i="1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analogWrite()</a:t>
            </a:r>
            <a:r>
              <a:rPr sz="1300" b="0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 — both use PWM, but the servo reads pulse </a:t>
            </a:r>
            <a:r>
              <a:rPr sz="1300" b="1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width</a:t>
            </a:r>
            <a:r>
              <a:rPr sz="1300" b="0" i="1">
                <a:solidFill>
                  <a:srgbClr val="003DA5"/>
                </a:solidFill>
                <a:latin typeface="Arial"/>
                <a:ea typeface="Arial"/>
                <a:cs typeface="Arial"/>
              </a:rPr>
              <a:t>, not duty cycle.</a:t>
            </a:r>
          </a:p>
        </p:txBody>
      </p:sp>
    </p:spTree>
    <p:extLst>
      <p:ext uri="{BB962C8B-B14F-4D97-AF65-F5344CB8AC3E}">
        <p14:creationId xmlns:p14="http://schemas.microsoft.com/office/powerpoint/2010/main" val="114163930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68006B2-EF98-4999-AA68-DB8A955B0A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Task 3 — Add the Servo Motor</a:t>
            </a: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b984d434e45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" y="980874"/>
            <a:ext cx="5257800" cy="3113171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Table 4"/>
          <p:cNvGraphicFramePr/>
          <p:nvPr/>
        </p:nvGraphicFramePr>
        <p:xfrm>
          <a:off xmlns:a="http://schemas.openxmlformats.org/drawingml/2006/main" x="5760720" y="914400"/>
          <a:ext xmlns:a="http://schemas.openxmlformats.org/drawingml/2006/main" cx="3063240" cy="2048256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051560"/>
                <a:gridCol w="960120"/>
                <a:gridCol w="1051560"/>
              </a:tblGrid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Device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Pin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ESP32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DHT22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VCC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3V3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DHT22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GPIO 15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DHT22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GND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GND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Servo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V+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5V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Servo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GND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GND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Servo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PWM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GPIO 13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4FBFE3B-7E21-4CC3-8E43-9F98FBB3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054096"/>
            <a:ext cx="3063240" cy="1225296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3DD6A7-0FC9-4BD6-96D1-4FF98C92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3154680"/>
            <a:ext cx="2770632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12700" rIns="254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New in the sketch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#include &lt;ESP32Servo.h&gt;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Servo myServo;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myServo.attach(13);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B17E602-B4BC-4F3A-80B2-9A63EA60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2245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Both devices share the ESP32 ground — that is what makes the signals mean anything.</a:t>
            </a:r>
          </a:p>
        </p:txBody>
      </p:sp>
    </p:spTree>
    <p:extLst>
      <p:ext uri="{BB962C8B-B14F-4D97-AF65-F5344CB8AC3E}">
        <p14:creationId xmlns:p14="http://schemas.microsoft.com/office/powerpoint/2010/main" val="128734190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EAAFAF4B-AB10-4065-A9C6-2785C9F83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Thresholds and Hysteresis</a:t>
            </a:r>
          </a:p>
        </p:txBody>
      </p:sp>
      <p:pic>
        <p:nvPicPr>
          <p:cNvPr id="1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73d07ec064a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064622"/>
            <a:ext cx="5623560" cy="2570770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4152B6E-A622-4773-821D-5F7E005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932688"/>
            <a:ext cx="2560320" cy="265176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B8B5B26-F164-4573-9B90-3CF85919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033272"/>
            <a:ext cx="2267712" cy="24505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5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The problem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 real signal wobbles around the threshold.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 single threshold makes the actuator switch on every wobble — noisy, and hard on a relay or servo.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Fix:</a:t>
            </a: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switch on at one value and off at a lower one.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1B230FE-ECB8-45B6-95AD-07364999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7056"/>
            <a:ext cx="5669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Week 4 notes use </a:t>
            </a:r>
            <a:r>
              <a:rPr sz="125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30 °C on / 28 °C off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as the worked example of a hysteresis band.</a:t>
            </a:r>
          </a:p>
        </p:txBody>
      </p:sp>
    </p:spTree>
    <p:extLst>
      <p:ext uri="{BB962C8B-B14F-4D97-AF65-F5344CB8AC3E}">
        <p14:creationId xmlns:p14="http://schemas.microsoft.com/office/powerpoint/2010/main" val="14240460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19593504-EA95-4A38-9D18-4988293CB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Task 4 — One Rule, One Decision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7767A1D-40FD-41D3-8218-ACBB0A94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4846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Objective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Above 30 °C the vent opens to 90°; at or below it, the vent closes to 0°.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CAAD095-C78B-4A65-B6C5-DF562CBB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1408"/>
            <a:ext cx="4846320" cy="1874519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A88CDD-6578-4996-8FAA-419F9216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12848"/>
            <a:ext cx="457200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12700" rIns="254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const float TEMP_THRESHOLD = 30.0;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if (temperature &gt; TEMP_THRESHOLD)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myServo.write(90);   // vent open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 else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myServo.write(0);    // vent closed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graphicFrame>
        <p:nvGraphicFramePr>
          <p:cNvPr id="16" name="Table 6"/>
          <p:cNvGraphicFramePr/>
          <p:nvPr/>
        </p:nvGraphicFramePr>
        <p:xfrm>
          <a:off xmlns:a="http://schemas.openxmlformats.org/drawingml/2006/main" x="5486400" y="932688"/>
          <a:ext xmlns:a="http://schemas.openxmlformats.org/drawingml/2006/main" cx="3337560" cy="9144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280160"/>
                <a:gridCol w="822960"/>
                <a:gridCol w="1234440"/>
              </a:tblGrid>
              <a:tr h="292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Temperature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Servo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&gt; 30 °C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90°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Vent open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≤ 30 °C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0°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Vent closed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07D9F78-35EC-436E-BD82-2606EA94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21408"/>
            <a:ext cx="3337560" cy="1874519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CF6EF"/>
          </a:solidFill>
          <a:ln xmlns:a="http://schemas.openxmlformats.org/drawingml/2006/main" w="12700">
            <a:solidFill>
              <a:srgbClr val="1A8A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4074665-E898-477C-BED8-9E6BC97E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2221992"/>
            <a:ext cx="3044952" cy="1673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A8A3E"/>
                </a:solidFill>
                <a:latin typeface="Arial"/>
                <a:ea typeface="Arial"/>
                <a:cs typeface="Arial"/>
              </a:rPr>
              <a:t>Closed loop at last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DHT22 measures, the ESP32 decides, the servo acts — and the next reading sees the result.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D6D6159-A7D5-4555-A7B7-0D625DF9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087"/>
            <a:ext cx="8321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The isnan() guard from Task 2 still runs first — never let invalid data reach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93178942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7B24028A-6957-4C4F-AB7D-3B4CAEFE7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Task 4 — Testing and Expected Result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92312E-24D7-4BB0-82FC-5FC637F9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393192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sz="145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How to test in Wokwi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5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Start the simulation.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5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Click the DHT22 part.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5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Drag the temperature slider above 30 °C.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5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Confirm the alert message and the servo at 90°.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5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Drag it back to 30 °C or below.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5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Confirm the normal message and the servo at 0°.</a:t>
            </a:r>
          </a:p>
        </p:txBody>
      </p:sp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4d985ef2146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4487" y="914399"/>
            <a:ext cx="2341264" cy="160934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0638630-EB41-447D-88C1-A16038EA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69464"/>
            <a:ext cx="4297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Above the threshold: alert, then servo 90°</a:t>
            </a:r>
          </a:p>
        </p:txBody>
      </p:sp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aaf55a78641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0763" y="2907792"/>
            <a:ext cx="1908712" cy="1106424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B2E3B06-0ADA-44CD-8D30-9B12EE8F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59936"/>
            <a:ext cx="4297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The servo driven to the open position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B120826-0436-4EFF-954B-5EE57DEA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7248"/>
            <a:ext cx="3794760" cy="1048639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CF6EF"/>
          </a:solidFill>
          <a:ln xmlns:a="http://schemas.openxmlformats.org/drawingml/2006/main" w="12700">
            <a:solidFill>
              <a:srgbClr val="1A8A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CB26F5-BEEB-413E-8058-AD189D2B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227832"/>
            <a:ext cx="3502152" cy="847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250" b="1" i="0">
                <a:solidFill>
                  <a:srgbClr val="1A8A3E"/>
                </a:solidFill>
                <a:latin typeface="Arial"/>
                <a:ea typeface="Arial"/>
                <a:cs typeface="Arial"/>
              </a:rPr>
              <a:t>Below the threshold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System normal - ventilation closed.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Servo Position: 0 degrees</a:t>
            </a:r>
          </a:p>
        </p:txBody>
      </p:sp>
    </p:spTree>
    <p:extLst>
      <p:ext uri="{BB962C8B-B14F-4D97-AF65-F5344CB8AC3E}">
        <p14:creationId xmlns:p14="http://schemas.microsoft.com/office/powerpoint/2010/main" val="169676396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1D06BE5-B847-457B-9E29-A611EA6E47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Task 5 — Multiple Conditions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74D3FD-F74B-41F0-B13A-F43D00AB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8321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Replace the single threshold with a decision engine that weighs </a:t>
            </a:r>
            <a:r>
              <a:rPr sz="14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temperature and humidity together</a:t>
            </a:r>
            <a:r>
              <a:rPr sz="14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graphicFrame>
        <p:nvGraphicFramePr>
          <p:cNvPr id="13" name="Table 4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8229600" cy="151790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48840"/>
                <a:gridCol w="2606040"/>
                <a:gridCol w="822960"/>
                <a:gridCol w="2651760"/>
              </a:tblGrid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Servo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Operating mode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 — Critical high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temp &gt; 35.0 || hum &gt; 80.0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180°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Maximum speed mode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 — Warning moderate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temp &gt; 28.0 &amp;&amp; hum &gt; 50.0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90°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Standard ventilation mode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 — Safe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neither condition is true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0°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Standby idle mode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FD890E5-6407-4FF0-8471-C08F2681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4069080" cy="868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DEEED"/>
          </a:solidFill>
          <a:ln xmlns:a="http://schemas.openxmlformats.org/drawingml/2006/main" w="12700">
            <a:solidFill>
              <a:srgbClr val="EC2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1FB094-3715-4CB7-A2A7-8FA84503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621024"/>
            <a:ext cx="3776472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00" b="1" i="0">
                <a:solidFill>
                  <a:srgbClr val="EC251D"/>
                </a:solidFill>
                <a:latin typeface="Arial"/>
                <a:ea typeface="Arial"/>
                <a:cs typeface="Arial"/>
              </a:rPr>
              <a:t>|| — OR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Either</a:t>
            </a: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condition alone triggers the critical state.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FDBEFA9-FB6E-4636-89FD-571C71C1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520440"/>
            <a:ext cx="4069080" cy="868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DF3E2"/>
          </a:solidFill>
          <a:ln xmlns:a="http://schemas.openxmlformats.org/drawingml/2006/main" w="12700">
            <a:solidFill>
              <a:srgbClr val="F59E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B4789CF-7410-4E97-A03E-A0015815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621024"/>
            <a:ext cx="3776472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00" b="1" i="0">
                <a:solidFill>
                  <a:srgbClr val="B07000"/>
                </a:solidFill>
                <a:latin typeface="Arial"/>
                <a:ea typeface="Arial"/>
                <a:cs typeface="Arial"/>
              </a:rPr>
              <a:t>&amp;&amp; — AND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Both</a:t>
            </a: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must be true before the warning state applies.</a:t>
            </a:r>
          </a:p>
        </p:txBody>
      </p:sp>
    </p:spTree>
    <p:extLst>
      <p:ext uri="{BB962C8B-B14F-4D97-AF65-F5344CB8AC3E}">
        <p14:creationId xmlns:p14="http://schemas.microsoft.com/office/powerpoint/2010/main" val="114840976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5C4EF6E-AFCA-4AC9-999A-A617DF75DF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Task 5 — The Decision Engine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F1EB6BC-B5EE-46C2-B9F1-AEFF2AEC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440680" cy="4105656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003D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6A6854-3A5B-4BE8-8A5A-B1950218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005840"/>
            <a:ext cx="5166360" cy="3922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float hum  = dht.readHumidity();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float temp = dht.readTemperature();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  // isnan() guard, then the [Sensor Scan] line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if (temp &gt; 35.0 || hum &gt; 80.0)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myServo.write(180);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Serial.println(</a:t>
            </a:r>
            <a:r>
              <a:rPr sz="12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"STATUS: CRITICAL HIGH"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       </a:t>
            </a:r>
            <a:r>
              <a:rPr sz="12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 - Maximum speed mode"</a:t>
            </a: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Serial.println(</a:t>
            </a:r>
            <a:r>
              <a:rPr sz="12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"Servo Position: 180 degrees"</a:t>
            </a: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} else if (temp &gt; 28.0 &amp;&amp; hum &gt; 50.0)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myServo.write(90);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Serial.println(</a:t>
            </a:r>
            <a:r>
              <a:rPr sz="12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"STATUS: WARNING MODERATE"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       </a:t>
            </a:r>
            <a:r>
              <a:rPr sz="12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 - Standard ventilation mode"</a:t>
            </a: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Serial.println(</a:t>
            </a:r>
            <a:r>
              <a:rPr sz="12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"Servo Position: 90 degrees"</a:t>
            </a: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} else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myServo.write(0);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Serial.println(</a:t>
            </a:r>
            <a:r>
              <a:rPr sz="12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"STATUS: SAFE"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       </a:t>
            </a:r>
            <a:r>
              <a:rPr sz="12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 - Standby idle mode"</a:t>
            </a: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Serial.println(</a:t>
            </a:r>
            <a:r>
              <a:rPr sz="1200" b="0" i="0">
                <a:solidFill>
                  <a:srgbClr val="B03030"/>
                </a:solidFill>
                <a:latin typeface="Courier New"/>
                <a:ea typeface="Courier New"/>
                <a:cs typeface="Courier New"/>
              </a:rPr>
              <a:t>"Servo Position: 0 degrees"</a:t>
            </a: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}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AFA14B4-CB5F-4B4E-B819-FE68E149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914400"/>
            <a:ext cx="2770632" cy="2727198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DEEED"/>
          </a:solidFill>
          <a:ln xmlns:a="http://schemas.openxmlformats.org/drawingml/2006/main" w="12700">
            <a:solidFill>
              <a:srgbClr val="EC2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6BA8000-4047-412B-BDF1-941E994C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014984"/>
            <a:ext cx="2478024" cy="2526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r>
              <a:rPr sz="1300" b="1" i="0">
                <a:solidFill>
                  <a:srgbClr val="EC251D"/>
                </a:solidFill>
                <a:latin typeface="Arial"/>
                <a:ea typeface="Arial"/>
                <a:cs typeface="Arial"/>
              </a:rPr>
              <a:t>Why the order matters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else if</a:t>
            </a: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only runs when the test above it was false.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At 36 °C and 90 % RH </a:t>
            </a:r>
            <a:r>
              <a:rPr sz="1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both</a:t>
            </a: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conditions are true — checking critical first is what makes the servo go to 180° instead of 90°.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Always test the most severe state first.</a:t>
            </a:r>
          </a:p>
          <a:p xmlns:a="http://schemas.openxmlformats.org/drawingml/2006/main">
            <a:pPr>
              <a:spcBef>
                <a:spcPts val="40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Variables are named </a:t>
            </a:r>
            <a:r>
              <a:rPr sz="12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temp</a:t>
            </a: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and </a:t>
            </a:r>
            <a:r>
              <a:rPr sz="120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hum</a:t>
            </a:r>
            <a:r>
              <a:rPr sz="12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, as the task requires.</a:t>
            </a:r>
          </a:p>
        </p:txBody>
      </p:sp>
    </p:spTree>
    <p:extLst>
      <p:ext uri="{BB962C8B-B14F-4D97-AF65-F5344CB8AC3E}">
        <p14:creationId xmlns:p14="http://schemas.microsoft.com/office/powerpoint/2010/main" val="189664271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135A481B-BF08-48E4-A36F-E1B355A4E9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Common Problems and How to Fix Them</a:t>
            </a:r>
          </a:p>
        </p:txBody>
      </p:sp>
      <p:graphicFrame>
        <p:nvGraphicFramePr>
          <p:cNvPr id="6" name="Table 3"/>
          <p:cNvGraphicFramePr/>
          <p:nvPr/>
        </p:nvGraphicFramePr>
        <p:xfrm>
          <a:off xmlns:a="http://schemas.openxmlformats.org/drawingml/2006/main" x="457200" y="932688"/>
          <a:ext xmlns:a="http://schemas.openxmlformats.org/drawingml/2006/main" cx="8229600" cy="2942336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77440"/>
                <a:gridCol w="2743200"/>
                <a:gridCol w="3108960"/>
              </a:tblGrid>
              <a:tr h="310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Symptom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Likely cause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003D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DHT22 returns </a:t>
                      </a:r>
                      <a:r>
                        <a:rPr sz="1150" b="0" i="0">
                          <a:solidFill>
                            <a:srgbClr val="003DA5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NaN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Wrong pin, no pull-up, read too fast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Check wiring; keep the interval ≥ 2 s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Nothing in the Serial Monitor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Baud rate mismatch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Set the monitor to </a:t>
                      </a:r>
                      <a:r>
                        <a:rPr sz="1150" b="1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115200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Sketch will not compile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 library is missing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Install DHT, Unified Sensor and ESP32Servo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ESP32 resets when the servo moves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Supply cannot deliver the current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Separate 5 V supply, common ground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Servo jitters constantly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Noisy supply or unstable pulses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Add a capacitor; check the signal wire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Relay works backwards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The module is active-low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Invert HIGH and LOW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Actuator switches on and off rapidly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Signal wobbling on one threshold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 i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Add hysteresis — two thresholds</a:t>
                      </a:r>
                    </a:p>
                  </a:txBody>
                  <a:tcPr marL="63500" marR="63500" marT="25400" marB="25400" anchor="ctr">
                    <a:lnL w="12700" cmpd="sng">
                      <a:solidFill>
                        <a:srgbClr val="CCCCCC"/>
                      </a:solidFill>
                    </a:lnL>
                    <a:lnR w="12700" cmpd="sng">
                      <a:solidFill>
                        <a:srgbClr val="CCCCCC"/>
                      </a:solidFill>
                    </a:lnR>
                    <a:lnT w="12700" cmpd="sng">
                      <a:solidFill>
                        <a:srgbClr val="CCCCCC"/>
                      </a:solidFill>
                    </a:lnT>
                    <a:lnB w="12700" cmpd="sng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47474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17397569-56A7-4807-A05D-1C5286EA1D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8229600" cy="603504"/>
          </a:xfrm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EC251D"/>
                </a:solidFill>
                <a:latin typeface="Calibri"/>
                <a:ea typeface="Calibri"/>
                <a:cs typeface="Calibri"/>
              </a:rPr>
              <a:t>Extension Challenges — and Where We Go Next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557C7A5-5773-4A0A-B149-B43AF8FB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41148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Build on this week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Replace </a:t>
            </a:r>
            <a:r>
              <a:rPr sz="125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delay(2000)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with a non-blocking </a:t>
            </a:r>
            <a:r>
              <a:rPr sz="1250" b="0" i="0">
                <a:solidFill>
                  <a:srgbClr val="003DA5"/>
                </a:solidFill>
                <a:latin typeface="Courier New"/>
                <a:ea typeface="Courier New"/>
                <a:cs typeface="Courier New"/>
              </a:rPr>
              <a:t>millis()</a:t>
            </a: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timer.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Add hysteresis: open at 30 °C, close only below 28 °C.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Swap the servo for a relay and invert the logic for an active-low module.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Map temperature onto a continuous servo angle instead of three steps.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7C8EFF-06E3-4192-8EA2-D184C796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932688"/>
            <a:ext cx="41148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>
                <a:solidFill>
                  <a:srgbClr val="003DA5"/>
                </a:solidFill>
                <a:latin typeface="Arial"/>
                <a:ea typeface="Arial"/>
                <a:cs typeface="Arial"/>
              </a:rPr>
              <a:t>Go further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Add an LDR on an ADC pin and only ventilate during the day.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Add a PIR and hold the vent closed when the room is empty.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Print a CSV line per cycle and plot it from the Serial Monitor.</a:t>
            </a:r>
          </a:p>
          <a:p xmlns:a="http://schemas.openxmlformats.org/drawingml/2006/main">
            <a:pPr marL="201168" indent="-201168" algn="l">
              <a:spcBef>
                <a:spcPts val="0"/>
              </a:spcBef>
              <a:spcAft>
                <a:spcPts val="700"/>
              </a:spcAft>
              <a:buChar char="■"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Publish the readings over Wi-Fi, connecting back to Week 2.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AC3CE9-25EE-4917-B79B-9EEE9185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6812280" cy="9144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1A8A3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B323448-1473-47AB-B003-CD0E778F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621024"/>
            <a:ext cx="6519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12700" rIns="25400" bIns="1270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A8A3E"/>
                </a:solidFill>
                <a:latin typeface="Arial"/>
                <a:ea typeface="Arial"/>
                <a:cs typeface="Arial"/>
              </a:rPr>
              <a:t>You can now read a sensor, validate its data, and drive an actuator from your own rule.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Next week: Automation Systems and Control Concepts.</a:t>
            </a:r>
          </a:p>
        </p:txBody>
      </p:sp>
    </p:spTree>
    <p:extLst>
      <p:ext uri="{BB962C8B-B14F-4D97-AF65-F5344CB8AC3E}">
        <p14:creationId xmlns:p14="http://schemas.microsoft.com/office/powerpoint/2010/main" val="677011428"/>
      </p:ext>
    </p:extLst>
  </p:cSld>
</p:sld>
</file>

<file path=ppt/theme/theme1.xml><?xml version="1.0" encoding="utf-8"?>
<a:theme xmlns:a="http://schemas.openxmlformats.org/drawingml/2006/main" name="Layouts">
  <a:themeElements>
    <a:clrScheme name="Marquee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2026-08-06T06:57:20.1730000Z</dcterms:created>
  <dcterms:modified xsi:type="dcterms:W3CDTF">2026-08-06T06:57:20.1730000Z</dcterms:modified>
</coreProperties>
</file>