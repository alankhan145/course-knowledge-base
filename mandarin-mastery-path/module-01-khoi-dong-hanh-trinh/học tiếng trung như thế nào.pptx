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BB384FAB-4D7C-4124-AEF2-A76795D44EDC}"/>
              </a:ext>
            </a:extLst>
          </p:cNvPr>
          <p:cNvSpPr>
            <a:spLocks noGrp="1"/>
          </p:cNvSpPr>
          <p:nvPr/>
        </p:nvSpPr>
        <p:spPr>
          <a:xfrm>
            <a:off x="8020050" y="0"/>
            <a:ext cx="4171950" cy="6858000"/>
          </a:xfrm>
          <a:prstGeom prst="rect">
            <a:avLst/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ình Bầu dục 1">
            <a:extLst>
              <a:ext uri="{FF2B5EF4-FFF2-40B4-BE49-F238E27FC236}">
                <a16:creationId xmlns:a16="http://schemas.microsoft.com/office/drawing/2014/main" id="{6315D904-E67B-4629-B58C-680E51637128}"/>
              </a:ext>
            </a:extLst>
          </p:cNvPr>
          <p:cNvSpPr>
            <a:spLocks noGrp="1"/>
          </p:cNvSpPr>
          <p:nvPr/>
        </p:nvSpPr>
        <p:spPr>
          <a:xfrm>
            <a:off x="9639300" y="800100"/>
            <a:ext cx="2038350" cy="2038350"/>
          </a:xfrm>
          <a:prstGeom prst="ellipse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ình Bầu dục 2">
            <a:extLst>
              <a:ext uri="{FF2B5EF4-FFF2-40B4-BE49-F238E27FC236}">
                <a16:creationId xmlns:a16="http://schemas.microsoft.com/office/drawing/2014/main" id="{96FC0203-3E00-48C8-AA8C-520FDFC22764}"/>
              </a:ext>
            </a:extLst>
          </p:cNvPr>
          <p:cNvSpPr>
            <a:spLocks noGrp="1"/>
          </p:cNvSpPr>
          <p:nvPr/>
        </p:nvSpPr>
        <p:spPr>
          <a:xfrm>
            <a:off x="10172700" y="4457700"/>
            <a:ext cx="819150" cy="819150"/>
          </a:xfrm>
          <a:prstGeom prst="ellipse">
            <a:avLst/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Đường nối Thẳng 3">
            <a:extLst>
              <a:ext uri="{FF2B5EF4-FFF2-40B4-BE49-F238E27FC236}">
                <a16:creationId xmlns:a16="http://schemas.microsoft.com/office/drawing/2014/main" id="{43DB03E4-15DF-4F05-A400-487FEDFEEC21}"/>
              </a:ext>
            </a:extLst>
          </p:cNvPr>
          <p:cNvSpPr>
            <a:spLocks noGrp="1"/>
          </p:cNvSpPr>
          <p:nvPr/>
        </p:nvSpPr>
        <p:spPr>
          <a:xfrm>
            <a:off x="8572500" y="3638550"/>
            <a:ext cx="2857500" cy="190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EF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9174758-B2C1-4CF5-8FE0-72A0BF62AAB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MODULE 01  /  KHỞI ĐỘNG HÀNH TRÌNH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C0EE00FE-E195-453C-A8F6-E886EF5FA25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477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82000"/>
              </a:lnSpc>
              <a:buNone/>
              <a:defRPr sz="45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Học tiếng Trung</a:t>
            </a:r>
          </a:p>
          <a:p>
            <a:pPr algn="l">
              <a:lnSpc>
                <a:spcPct val="82000"/>
              </a:lnSpc>
              <a:buNone/>
              <a:defRPr sz="45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như thế nào?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188CD612-4FE5-4178-80E5-B2AA6C2283E8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95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Từ nền HSK 1 đến một cách học</a:t>
            </a:r>
          </a:p>
          <a:p>
            <a:pPr algn="l">
              <a:lnSpc>
                <a:spcPct val="95000"/>
              </a:lnSpc>
              <a:buNone/>
              <a:defRPr sz="16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nghe được — đọc được — dùng được.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E894C2B1-F4E0-4D0C-8D59-56DDDB097630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2A6ECC93-1C49-4284-9040-1E2C4F6770A2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HSK 1–3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0990D81F-0A80-42AE-BF08-9C3770986241}"/>
              </a:ext>
            </a:extLst>
          </p:cNvPr>
          <p:cNvSpPr>
            <a:spLocks noGrp="1"/>
          </p:cNvSpPr>
          <p:nvPr/>
        </p:nvSpPr>
        <p:spPr>
          <a:xfrm>
            <a:off x="1905000" y="4724400"/>
            <a:ext cx="1676400" cy="304800"/>
          </a:xfrm>
          <a:prstGeom prst="roundRect">
            <a:avLst>
              <a:gd name="adj" fmla="val 50000"/>
            </a:avLst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BA72E9FE-0503-4091-813D-E1D39B99DA1E}"/>
              </a:ext>
            </a:extLst>
          </p:cNvPr>
          <p:cNvSpPr>
            <a:spLocks noGrp="1"/>
          </p:cNvSpPr>
          <p:nvPr/>
        </p:nvSpPr>
        <p:spPr>
          <a:xfrm>
            <a:off x="1905000" y="47434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150 từ nền tảng</a:t>
            </a:r>
          </a:p>
        </p:txBody>
      </p:sp>
      <p:pic>
        <p:nvPicPr>
          <p:cNvPr id="29" name="Hình ảnh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05800" y="4057926"/>
            <a:ext cx="1333500" cy="1218648"/>
          </a:xfrm>
          <a:prstGeom prst="rect">
            <a:avLst/>
          </a:prstGeom>
        </p:spPr>
      </p:pic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8A6A0C8F-A6A4-4F43-9903-2ACB37F9A905}"/>
              </a:ext>
            </a:extLst>
          </p:cNvPr>
          <p:cNvSpPr>
            <a:spLocks noGrp="1"/>
          </p:cNvSpPr>
          <p:nvPr/>
        </p:nvSpPr>
        <p:spPr>
          <a:xfrm>
            <a:off x="8286750" y="952500"/>
            <a:ext cx="36195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 fontScale="94203"/>
          </a:bodyPr>
          <a:lstStyle/>
          <a:p>
            <a:pPr algn="ctr">
              <a:defRPr sz="10350" b="1" i="0">
                <a:solidFill>
                  <a:srgbClr val="F7F2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0" b="1" i="0">
                <a:solidFill>
                  <a:srgbClr val="F7F2EA"/>
                </a:solidFill>
                <a:latin typeface="Microsoft YaHei"/>
                <a:ea typeface="Microsoft YaHei"/>
                <a:cs typeface="Microsoft YaHei"/>
              </a:rPr>
              <a:t>汉语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4F342D6-5928-4D26-9376-F0243C659952}"/>
              </a:ext>
            </a:extLst>
          </p:cNvPr>
          <p:cNvSpPr>
            <a:spLocks noGrp="1"/>
          </p:cNvSpPr>
          <p:nvPr/>
        </p:nvSpPr>
        <p:spPr>
          <a:xfrm>
            <a:off x="8515350" y="3124200"/>
            <a:ext cx="3162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0" i="0">
                <a:solidFill>
                  <a:srgbClr val="FFFD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DF9"/>
                </a:solidFill>
                <a:latin typeface="Microsoft YaHei"/>
                <a:ea typeface="Microsoft YaHei"/>
                <a:cs typeface="Microsoft YaHei"/>
              </a:rPr>
              <a:t>听  ·  读  ·  学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B9385AE9-417E-4FB9-B7DC-1ADDE421F787}"/>
              </a:ext>
            </a:extLst>
          </p:cNvPr>
          <p:cNvSpPr>
            <a:spLocks noGrp="1"/>
          </p:cNvSpPr>
          <p:nvPr/>
        </p:nvSpPr>
        <p:spPr>
          <a:xfrm>
            <a:off x="8629650" y="55435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BÀI 01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E9AC91AA-C0E1-4E69-9FCC-DC5F660DBC8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E772E30D-B92E-4024-9581-BC8053AA70A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908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3B744AF9-0C84-42AD-BA8A-4279CC9093D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01  /  ĐIỂM BẮT ĐẦU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90EB8B41-6AED-43F9-8AF3-E40D61042DA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HSK 1 là nền móng — không phải đích đến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9159E603-BEEB-4678-B9C9-A2942CB41CD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4F791B2A-3BAA-437F-B4CB-9426D8E1AD89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B69B7AA-F408-49B7-900D-2894A1419AD8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02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1FAD6241-506B-4E9E-8E31-E1ECCF12541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AAA88BF8-FCE9-437F-9CDA-6565418A7A56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E6F10180-AFD1-4E59-912B-2A9FC59DC81F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762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6450" b="1" i="0">
                <a:solidFill>
                  <a:srgbClr val="C83C2F"/>
                </a:solidFill>
                <a:latin typeface="Aptos Display"/>
                <a:ea typeface="Aptos Display"/>
                <a:cs typeface="Aptos Display"/>
              </a:defRPr>
            </a:pPr>
            <a:r>
              <a:rPr sz="6450" b="1" i="0">
                <a:solidFill>
                  <a:srgbClr val="C83C2F"/>
                </a:solidFill>
                <a:latin typeface="Aptos Display"/>
                <a:ea typeface="Aptos Display"/>
                <a:cs typeface="Aptos Display"/>
              </a:rPr>
              <a:t>150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D35DFBD5-1825-4DFB-8A87-D30DBAFDC37B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2000"/>
              </a:lnSpc>
              <a:buNone/>
              <a:defRPr sz="1500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từ vựng cơ bản</a:t>
            </a:r>
          </a:p>
          <a:p>
            <a:pPr algn="l">
              <a:lnSpc>
                <a:spcPct val="92000"/>
              </a:lnSpc>
              <a:buNone/>
              <a:defRPr sz="1500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trong chương trình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6458443E-3B15-4B76-975D-DD5FC7294D4E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66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Học ít nhưng học đủ sâu để nền tảng này nâng đỡ HSK 2 và HSK 3.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07BCEF3C-7566-4AE1-B607-F7818E865E47}"/>
              </a:ext>
            </a:extLst>
          </p:cNvPr>
          <p:cNvSpPr>
            <a:spLocks noGrp="1"/>
          </p:cNvSpPr>
          <p:nvPr/>
        </p:nvSpPr>
        <p:spPr>
          <a:xfrm>
            <a:off x="3714750" y="1866900"/>
            <a:ext cx="2095500" cy="1790700"/>
          </a:xfrm>
          <a:prstGeom prst="roundRect">
            <a:avLst>
              <a:gd name="adj" fmla="val 85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354FF9C5-BCAC-40DE-AB76-2327191341B4}"/>
              </a:ext>
            </a:extLst>
          </p:cNvPr>
          <p:cNvSpPr>
            <a:spLocks noGrp="1"/>
          </p:cNvSpPr>
          <p:nvPr/>
        </p:nvSpPr>
        <p:spPr>
          <a:xfrm>
            <a:off x="3981450" y="2076450"/>
            <a:ext cx="609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0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🎧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F0EA8689-8C33-4360-8864-8F2B5A540FC4}"/>
              </a:ext>
            </a:extLst>
          </p:cNvPr>
          <p:cNvSpPr>
            <a:spLocks noGrp="1"/>
          </p:cNvSpPr>
          <p:nvPr/>
        </p:nvSpPr>
        <p:spPr>
          <a:xfrm>
            <a:off x="3981450" y="2714625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NGHE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0E9BC73E-A15E-4416-ACF9-91658E03696F}"/>
              </a:ext>
            </a:extLst>
          </p:cNvPr>
          <p:cNvSpPr>
            <a:spLocks noGrp="1"/>
          </p:cNvSpPr>
          <p:nvPr/>
        </p:nvSpPr>
        <p:spPr>
          <a:xfrm>
            <a:off x="39814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Nhận ra từ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trong âm thanh</a:t>
            </a:r>
          </a:p>
        </p:txBody>
      </p:sp>
      <p:sp>
        <p:nvSpPr>
          <p:cNvPr id="15" name="Hình chữ nhật: Góc Tròn 14">
            <a:extLst>
              <a:ext uri="{FF2B5EF4-FFF2-40B4-BE49-F238E27FC236}">
                <a16:creationId xmlns:a16="http://schemas.microsoft.com/office/drawing/2014/main" id="{466E8E50-003B-4D74-BFC4-BC933E202543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2095500" cy="1790700"/>
          </a:xfrm>
          <a:prstGeom prst="roundRect">
            <a:avLst>
              <a:gd name="adj" fmla="val 85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6C0E3FEE-0C6E-464D-9A19-2BA8C67BE586}"/>
              </a:ext>
            </a:extLst>
          </p:cNvPr>
          <p:cNvSpPr>
            <a:spLocks noGrp="1"/>
          </p:cNvSpPr>
          <p:nvPr/>
        </p:nvSpPr>
        <p:spPr>
          <a:xfrm>
            <a:off x="6267450" y="2076450"/>
            <a:ext cx="609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70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rPr>
              <a:t>读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825F42BA-35D0-45C2-9BCC-D4283B53A2F1}"/>
              </a:ext>
            </a:extLst>
          </p:cNvPr>
          <p:cNvSpPr>
            <a:spLocks noGrp="1"/>
          </p:cNvSpPr>
          <p:nvPr/>
        </p:nvSpPr>
        <p:spPr>
          <a:xfrm>
            <a:off x="6267450" y="2714625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 i="0">
                <a:solidFill>
                  <a:srgbClr val="1E7A6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E7A6E"/>
                </a:solidFill>
                <a:latin typeface="Aptos"/>
                <a:ea typeface="Aptos"/>
                <a:cs typeface="Aptos"/>
              </a:rPr>
              <a:t>ĐỌC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F71E415F-7054-4AED-B931-B9E71AA52CEF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Nhận diện chữ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và hiểu câu ngắn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FF46A0D0-5232-48DB-ACFD-7A015A4F234A}"/>
              </a:ext>
            </a:extLst>
          </p:cNvPr>
          <p:cNvSpPr>
            <a:spLocks noGrp="1"/>
          </p:cNvSpPr>
          <p:nvPr/>
        </p:nvSpPr>
        <p:spPr>
          <a:xfrm>
            <a:off x="8858250" y="18478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 fontScale="97222"/>
          </a:bodyPr>
          <a:lstStyle/>
          <a:p>
            <a:pPr algn="l">
              <a:defRPr sz="90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LỘ TRÌNH</a:t>
            </a:r>
          </a:p>
        </p:txBody>
      </p:sp>
      <p:sp>
        <p:nvSpPr>
          <p:cNvPr id="20" name="Mũi tên: Hình V 19">
            <a:extLst>
              <a:ext uri="{FF2B5EF4-FFF2-40B4-BE49-F238E27FC236}">
                <a16:creationId xmlns:a16="http://schemas.microsoft.com/office/drawing/2014/main" id="{4F4968B4-046E-4C90-81BD-9EED0965F6E4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095500" cy="685800"/>
          </a:xfrm>
          <a:prstGeom prst="chevron">
            <a:avLst/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82BE2369-4D54-4A79-AB1B-3C4E0D16A340}"/>
              </a:ext>
            </a:extLst>
          </p:cNvPr>
          <p:cNvSpPr>
            <a:spLocks noGrp="1"/>
          </p:cNvSpPr>
          <p:nvPr/>
        </p:nvSpPr>
        <p:spPr>
          <a:xfrm>
            <a:off x="9086850" y="2447925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HSK 1</a:t>
            </a:r>
          </a:p>
        </p:txBody>
      </p:sp>
      <p:sp>
        <p:nvSpPr>
          <p:cNvPr id="22" name="Mũi tên: Hình V 21">
            <a:extLst>
              <a:ext uri="{FF2B5EF4-FFF2-40B4-BE49-F238E27FC236}">
                <a16:creationId xmlns:a16="http://schemas.microsoft.com/office/drawing/2014/main" id="{AEEDF0FB-98E0-47F1-9C49-1D832492A852}"/>
              </a:ext>
            </a:extLst>
          </p:cNvPr>
          <p:cNvSpPr>
            <a:spLocks noGrp="1"/>
          </p:cNvSpPr>
          <p:nvPr/>
        </p:nvSpPr>
        <p:spPr>
          <a:xfrm>
            <a:off x="9124950" y="3143250"/>
            <a:ext cx="1828800" cy="609600"/>
          </a:xfrm>
          <a:prstGeom prst="chevron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5F86C9F1-F4B8-41BC-A526-E91BF29C95EB}"/>
              </a:ext>
            </a:extLst>
          </p:cNvPr>
          <p:cNvSpPr>
            <a:spLocks noGrp="1"/>
          </p:cNvSpPr>
          <p:nvPr/>
        </p:nvSpPr>
        <p:spPr>
          <a:xfrm>
            <a:off x="9315450" y="3305175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7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HSK 2</a:t>
            </a:r>
          </a:p>
        </p:txBody>
      </p:sp>
      <p:sp>
        <p:nvSpPr>
          <p:cNvPr id="24" name="Mũi tên: Hình V 23">
            <a:extLst>
              <a:ext uri="{FF2B5EF4-FFF2-40B4-BE49-F238E27FC236}">
                <a16:creationId xmlns:a16="http://schemas.microsoft.com/office/drawing/2014/main" id="{FD5C56F7-92F4-4D8F-A64C-43AD5A202350}"/>
              </a:ext>
            </a:extLst>
          </p:cNvPr>
          <p:cNvSpPr>
            <a:spLocks noGrp="1"/>
          </p:cNvSpPr>
          <p:nvPr/>
        </p:nvSpPr>
        <p:spPr>
          <a:xfrm>
            <a:off x="9391650" y="3905250"/>
            <a:ext cx="1562100" cy="533400"/>
          </a:xfrm>
          <a:prstGeom prst="chevron">
            <a:avLst/>
          </a:prstGeom>
          <a:solidFill>
            <a:srgbClr val="1E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189BD7D4-14F1-4C1C-A22C-09466B3A39D0}"/>
              </a:ext>
            </a:extLst>
          </p:cNvPr>
          <p:cNvSpPr>
            <a:spLocks noGrp="1"/>
          </p:cNvSpPr>
          <p:nvPr/>
        </p:nvSpPr>
        <p:spPr>
          <a:xfrm>
            <a:off x="9544050" y="40386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HSK 3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775FB4E6-D618-4B00-AD53-F3A31885C5E2}"/>
              </a:ext>
            </a:extLst>
          </p:cNvPr>
          <p:cNvSpPr>
            <a:spLocks noGrp="1"/>
          </p:cNvSpPr>
          <p:nvPr/>
        </p:nvSpPr>
        <p:spPr>
          <a:xfrm>
            <a:off x="8858250" y="48577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Đừng học vượt nền.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89890976-BC1C-49BC-952C-131C90BBE093}"/>
              </a:ext>
            </a:extLst>
          </p:cNvPr>
          <p:cNvSpPr>
            <a:spLocks noGrp="1"/>
          </p:cNvSpPr>
          <p:nvPr/>
        </p:nvSpPr>
        <p:spPr>
          <a:xfrm>
            <a:off x="8858250" y="5219700"/>
            <a:ext cx="247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Pinyin · thanh điệu · từ vựng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nghe câu cơ bản · đọc câu đơn giản</a:t>
            </a:r>
          </a:p>
        </p:txBody>
      </p:sp>
    </p:spTree>
    <p:extLst>
      <p:ext uri="{BB962C8B-B14F-4D97-AF65-F5344CB8AC3E}">
        <p14:creationId xmlns:p14="http://schemas.microsoft.com/office/powerpoint/2010/main" val="9694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67ADB967-9C2F-4D94-9778-6F6F2627AD4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02  /  CÁCH HỌC MỘT TỪ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41B5AE6B-C9C3-42D9-87E4-463AA438C7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“Biết một từ” không dừng ở việc nhớ nghĩa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3B02F662-6F10-4932-BB22-2060841F6F7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4FD2C0E-4558-46C6-8BEF-7DAE1D4FE4A2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BDE20889-373E-491A-B740-2F150BEC417C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03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713E2FE2-70DC-49AB-BCF7-97EBF106EFA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0EA77CB5-67BA-464A-A222-51E657501FA4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8883A69D-5BF6-4699-B34E-63B2120B906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2476500" cy="2952750"/>
          </a:xfrm>
          <a:prstGeom prst="roundRect">
            <a:avLst>
              <a:gd name="adj" fmla="val 6154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DD13A603-D3D0-44E7-A721-FA68AA524D44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21336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你好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B7087C16-261C-44EF-B8A7-5343EF819E98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201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0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nǐ hǎo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EFD4A3E8-B0D4-4A50-84DA-A26E021A2A26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2019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xin chào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594FD87C-0990-456F-A88F-54D3E5D3F1F9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2057400" cy="304800"/>
          </a:xfrm>
          <a:prstGeom prst="roundRect">
            <a:avLst>
              <a:gd name="adj" fmla="val 50000"/>
            </a:avLst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5DD25FEF-CBFC-4B61-AB86-C1B5175CAD5C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0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một từ trong ngữ cảnh</a:t>
            </a:r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DB11E77B-6A74-4CBC-A5FC-FC5BF9BCF923}"/>
              </a:ext>
            </a:extLst>
          </p:cNvPr>
          <p:cNvSpPr>
            <a:spLocks noGrp="1"/>
          </p:cNvSpPr>
          <p:nvPr/>
        </p:nvSpPr>
        <p:spPr>
          <a:xfrm>
            <a:off x="3714750" y="1905000"/>
            <a:ext cx="2571750" cy="1066800"/>
          </a:xfrm>
          <a:prstGeom prst="roundRect">
            <a:avLst>
              <a:gd name="adj" fmla="val 14286"/>
            </a:avLst>
          </a:prstGeom>
          <a:solidFill>
            <a:srgbClr val="F6DA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7786A43E-5656-46DD-999E-F672F81FC02E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95250" cy="95250"/>
          </a:xfrm>
          <a:prstGeom prst="ellipse">
            <a:avLst/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F94C7DE4-AFDF-40C9-B92D-FFBA6983D616}"/>
              </a:ext>
            </a:extLst>
          </p:cNvPr>
          <p:cNvSpPr>
            <a:spLocks noGrp="1"/>
          </p:cNvSpPr>
          <p:nvPr/>
        </p:nvSpPr>
        <p:spPr>
          <a:xfrm>
            <a:off x="4171950" y="20764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ÂM THANH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89A607E8-F965-4D23-9E43-74D072C84732}"/>
              </a:ext>
            </a:extLst>
          </p:cNvPr>
          <p:cNvSpPr>
            <a:spLocks noGrp="1"/>
          </p:cNvSpPr>
          <p:nvPr/>
        </p:nvSpPr>
        <p:spPr>
          <a:xfrm>
            <a:off x="394335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Nghe và nhận ra từ</a:t>
            </a:r>
          </a:p>
        </p:txBody>
      </p: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47FBC848-3E91-48E4-A549-3CB462D948A5}"/>
              </a:ext>
            </a:extLst>
          </p:cNvPr>
          <p:cNvSpPr>
            <a:spLocks noGrp="1"/>
          </p:cNvSpPr>
          <p:nvPr/>
        </p:nvSpPr>
        <p:spPr>
          <a:xfrm>
            <a:off x="6572250" y="1905000"/>
            <a:ext cx="2571750" cy="1066800"/>
          </a:xfrm>
          <a:prstGeom prst="roundRect">
            <a:avLst>
              <a:gd name="adj" fmla="val 14286"/>
            </a:avLst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15E6E757-07A1-4DBE-B522-5E96600564D5}"/>
              </a:ext>
            </a:extLst>
          </p:cNvPr>
          <p:cNvSpPr>
            <a:spLocks noGrp="1"/>
          </p:cNvSpPr>
          <p:nvPr/>
        </p:nvSpPr>
        <p:spPr>
          <a:xfrm>
            <a:off x="6800850" y="2133600"/>
            <a:ext cx="95250" cy="95250"/>
          </a:xfrm>
          <a:prstGeom prst="ellipse">
            <a:avLst/>
          </a:prstGeom>
          <a:solidFill>
            <a:srgbClr val="8F24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54D5DFF9-029F-4C75-AF1C-6EFCB53A13A2}"/>
              </a:ext>
            </a:extLst>
          </p:cNvPr>
          <p:cNvSpPr>
            <a:spLocks noGrp="1"/>
          </p:cNvSpPr>
          <p:nvPr/>
        </p:nvSpPr>
        <p:spPr>
          <a:xfrm>
            <a:off x="7029450" y="20764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PINYIN</a:t>
            </a:r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899EE18F-6DA1-4A23-9497-CE9AA1383F27}"/>
              </a:ext>
            </a:extLst>
          </p:cNvPr>
          <p:cNvSpPr>
            <a:spLocks noGrp="1"/>
          </p:cNvSpPr>
          <p:nvPr/>
        </p:nvSpPr>
        <p:spPr>
          <a:xfrm>
            <a:off x="680085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Đọc được cách phát âm</a:t>
            </a:r>
          </a:p>
        </p:txBody>
      </p:sp>
      <p:sp>
        <p:nvSpPr>
          <p:cNvPr id="22" name="Hình chữ nhật: Góc Tròn 21">
            <a:extLst>
              <a:ext uri="{FF2B5EF4-FFF2-40B4-BE49-F238E27FC236}">
                <a16:creationId xmlns:a16="http://schemas.microsoft.com/office/drawing/2014/main" id="{B525B643-B7D1-4C56-ABAC-7EA797A4FF6A}"/>
              </a:ext>
            </a:extLst>
          </p:cNvPr>
          <p:cNvSpPr>
            <a:spLocks noGrp="1"/>
          </p:cNvSpPr>
          <p:nvPr/>
        </p:nvSpPr>
        <p:spPr>
          <a:xfrm>
            <a:off x="3714750" y="3276600"/>
            <a:ext cx="2571750" cy="1066800"/>
          </a:xfrm>
          <a:prstGeom prst="roundRect">
            <a:avLst>
              <a:gd name="adj" fmla="val 14286"/>
            </a:avLst>
          </a:prstGeom>
          <a:solidFill>
            <a:srgbClr val="D9E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Hình Bầu dục 22">
            <a:extLst>
              <a:ext uri="{FF2B5EF4-FFF2-40B4-BE49-F238E27FC236}">
                <a16:creationId xmlns:a16="http://schemas.microsoft.com/office/drawing/2014/main" id="{66BEFD1A-C0D0-496A-BFBF-8BEF911D2765}"/>
              </a:ext>
            </a:extLst>
          </p:cNvPr>
          <p:cNvSpPr>
            <a:spLocks noGrp="1"/>
          </p:cNvSpPr>
          <p:nvPr/>
        </p:nvSpPr>
        <p:spPr>
          <a:xfrm>
            <a:off x="3943350" y="3505200"/>
            <a:ext cx="95250" cy="95250"/>
          </a:xfrm>
          <a:prstGeom prst="ellipse">
            <a:avLst/>
          </a:prstGeom>
          <a:solidFill>
            <a:srgbClr val="1257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FAC79DB5-7AA5-4A4E-AD13-EC15E25998FF}"/>
              </a:ext>
            </a:extLst>
          </p:cNvPr>
          <p:cNvSpPr>
            <a:spLocks noGrp="1"/>
          </p:cNvSpPr>
          <p:nvPr/>
        </p:nvSpPr>
        <p:spPr>
          <a:xfrm>
            <a:off x="4171950" y="34480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CHỮ HÁN</a:t>
            </a:r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FE4D3A0F-0613-4620-AF28-BD2842C93696}"/>
              </a:ext>
            </a:extLst>
          </p:cNvPr>
          <p:cNvSpPr>
            <a:spLocks noGrp="1"/>
          </p:cNvSpPr>
          <p:nvPr/>
        </p:nvSpPr>
        <p:spPr>
          <a:xfrm>
            <a:off x="3943350" y="37909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Nhận diện được mặt chữ</a:t>
            </a:r>
          </a:p>
        </p:txBody>
      </p:sp>
      <p:sp>
        <p:nvSpPr>
          <p:cNvPr id="26" name="Hình chữ nhật: Góc Tròn 25">
            <a:extLst>
              <a:ext uri="{FF2B5EF4-FFF2-40B4-BE49-F238E27FC236}">
                <a16:creationId xmlns:a16="http://schemas.microsoft.com/office/drawing/2014/main" id="{2CE57613-8535-4C91-B531-E96500E7F5A5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2571750" cy="1066800"/>
          </a:xfrm>
          <a:prstGeom prst="roundRect">
            <a:avLst>
              <a:gd name="adj" fmla="val 14286"/>
            </a:avLst>
          </a:prstGeom>
          <a:solidFill>
            <a:srgbClr val="EFE6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Hình Bầu dục 26">
            <a:extLst>
              <a:ext uri="{FF2B5EF4-FFF2-40B4-BE49-F238E27FC236}">
                <a16:creationId xmlns:a16="http://schemas.microsoft.com/office/drawing/2014/main" id="{547CF5EF-321C-424A-8353-0FC5FF68DE6C}"/>
              </a:ext>
            </a:extLst>
          </p:cNvPr>
          <p:cNvSpPr>
            <a:spLocks noGrp="1"/>
          </p:cNvSpPr>
          <p:nvPr/>
        </p:nvSpPr>
        <p:spPr>
          <a:xfrm>
            <a:off x="6800850" y="3505200"/>
            <a:ext cx="95250" cy="95250"/>
          </a:xfrm>
          <a:prstGeom prst="ellipse">
            <a:avLst/>
          </a:prstGeom>
          <a:solidFill>
            <a:srgbClr val="6D4B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E10C828E-ADA9-4928-A3E6-02AEF5CD4644}"/>
              </a:ext>
            </a:extLst>
          </p:cNvPr>
          <p:cNvSpPr>
            <a:spLocks noGrp="1"/>
          </p:cNvSpPr>
          <p:nvPr/>
        </p:nvSpPr>
        <p:spPr>
          <a:xfrm>
            <a:off x="7029450" y="34480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6D4B8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4B8D"/>
                </a:solidFill>
                <a:latin typeface="Aptos"/>
                <a:ea typeface="Aptos"/>
                <a:cs typeface="Aptos"/>
              </a:rPr>
              <a:t>Ý NGHĨA</a:t>
            </a:r>
          </a:p>
        </p:txBody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928C9F98-8FAF-4D3F-A6AB-9330C138D07C}"/>
              </a:ext>
            </a:extLst>
          </p:cNvPr>
          <p:cNvSpPr>
            <a:spLocks noGrp="1"/>
          </p:cNvSpPr>
          <p:nvPr/>
        </p:nvSpPr>
        <p:spPr>
          <a:xfrm>
            <a:off x="6800850" y="37909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Hiểu từ có nghĩa gì</a:t>
            </a:r>
          </a:p>
        </p:txBody>
      </p:sp>
      <p:sp>
        <p:nvSpPr>
          <p:cNvPr id="30" name="Đường nối Thẳng 29">
            <a:extLst>
              <a:ext uri="{FF2B5EF4-FFF2-40B4-BE49-F238E27FC236}">
                <a16:creationId xmlns:a16="http://schemas.microsoft.com/office/drawing/2014/main" id="{D599B0C4-6F53-4CF2-98C0-F950C5482502}"/>
              </a:ext>
            </a:extLst>
          </p:cNvPr>
          <p:cNvSpPr>
            <a:spLocks noGrp="1"/>
          </p:cNvSpPr>
          <p:nvPr/>
        </p:nvSpPr>
        <p:spPr>
          <a:xfrm>
            <a:off x="3829050" y="4953000"/>
            <a:ext cx="7543800" cy="190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C83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9B6765CC-4FE5-4138-8104-726253925300}"/>
              </a:ext>
            </a:extLst>
          </p:cNvPr>
          <p:cNvSpPr>
            <a:spLocks noGrp="1"/>
          </p:cNvSpPr>
          <p:nvPr/>
        </p:nvSpPr>
        <p:spPr>
          <a:xfrm>
            <a:off x="3714750" y="5219700"/>
            <a:ext cx="762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MỘT TỪ =  ÂM THANH  +  PINYIN  +  CHỮ HÁN  +  NGHĨA</a:t>
            </a:r>
          </a:p>
        </p:txBody>
      </p:sp>
      <p:sp>
        <p:nvSpPr>
          <p:cNvPr id="32" name="Hình chữ nhật 31">
            <a:extLst>
              <a:ext uri="{FF2B5EF4-FFF2-40B4-BE49-F238E27FC236}">
                <a16:creationId xmlns:a16="http://schemas.microsoft.com/office/drawing/2014/main" id="{271E77BC-29AB-4F5E-B3C6-FA84669C1D77}"/>
              </a:ext>
            </a:extLst>
          </p:cNvPr>
          <p:cNvSpPr>
            <a:spLocks noGrp="1"/>
          </p:cNvSpPr>
          <p:nvPr/>
        </p:nvSpPr>
        <p:spPr>
          <a:xfrm>
            <a:off x="3714750" y="5829300"/>
            <a:ext cx="762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Khi nghe “nǐ hǎo”, bạn cũng phải nhận ra 你好 — không chỉ dịch được “xin chào”.</a:t>
            </a:r>
          </a:p>
        </p:txBody>
      </p:sp>
    </p:spTree>
    <p:extLst>
      <p:ext uri="{BB962C8B-B14F-4D97-AF65-F5344CB8AC3E}">
        <p14:creationId xmlns:p14="http://schemas.microsoft.com/office/powerpoint/2010/main" val="116710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0FD8D4E6-B54B-4CF7-A350-510E57C1B4C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03  /  PHÁT ÂM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8E74C1AB-191F-4F5D-BE19-A54AF97F1F9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Pinyin là cây cầu từ chữ → âm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9A31D875-109B-4B85-ABC7-CDC591F21F4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10DA8A94-EC66-4089-9EFB-F4C5E65ADB65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8F69DCAE-23C1-404D-9317-022F894FC54E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04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27DE4B61-B350-4CA0-A24A-588D93EF3F3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A252D81C-9614-4324-92CE-A350943CC9D0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CF1BA123-024F-499E-B7D3-E129AEEB3195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3848100" cy="3543300"/>
          </a:xfrm>
          <a:prstGeom prst="roundRect">
            <a:avLst>
              <a:gd name="adj" fmla="val 430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87CE6169-1628-4189-A23C-08F3BF556892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3143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585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rPr>
              <a:t>拼音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A68151B-FC78-464E-9077-1EC297FCD7F4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0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pīnyīn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094B8A3C-2D02-40FD-BE2C-FC0354FA56F4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304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 fontScale="95191"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Hệ thống chữ cái Latin giúp người mới học biết:</a:t>
            </a:r>
          </a:p>
          <a:p>
            <a:endParaRPr sz="1275" b="0" i="0">
              <a:solidFill>
                <a:srgbClr val="6E665F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95000"/>
              </a:lnSpc>
              <a:buNone/>
              <a:defRPr sz="127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• phụ âm đầu</a:t>
            </a:r>
          </a:p>
          <a:p>
            <a:pPr algn="l">
              <a:lnSpc>
                <a:spcPct val="95000"/>
              </a:lnSpc>
              <a:buNone/>
              <a:defRPr sz="127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• phần vần</a:t>
            </a:r>
          </a:p>
          <a:p>
            <a:pPr algn="l">
              <a:lnSpc>
                <a:spcPct val="95000"/>
              </a:lnSpc>
              <a:buNone/>
              <a:defRPr sz="127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• cách phát âm</a:t>
            </a:r>
          </a:p>
          <a:p>
            <a:pPr algn="l">
              <a:lnSpc>
                <a:spcPct val="95000"/>
              </a:lnSpc>
              <a:buNone/>
              <a:defRPr sz="1275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• thanh điệu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01077DC8-2674-4A8B-8C0A-54D5C0068AD6}"/>
              </a:ext>
            </a:extLst>
          </p:cNvPr>
          <p:cNvSpPr>
            <a:spLocks noGrp="1"/>
          </p:cNvSpPr>
          <p:nvPr/>
        </p:nvSpPr>
        <p:spPr>
          <a:xfrm>
            <a:off x="5219700" y="1847850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ĐỪNG BỎ QUA THANH ĐIỆU</a:t>
            </a:r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A64E9BEE-3FFD-400C-8E53-3BEC84FDCAC5}"/>
              </a:ext>
            </a:extLst>
          </p:cNvPr>
          <p:cNvSpPr>
            <a:spLocks noGrp="1"/>
          </p:cNvSpPr>
          <p:nvPr/>
        </p:nvSpPr>
        <p:spPr>
          <a:xfrm>
            <a:off x="5219700" y="2381250"/>
            <a:ext cx="1371600" cy="21717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AB3E4C9C-BDF1-4A90-ADDA-3D584BECA5D7}"/>
              </a:ext>
            </a:extLst>
          </p:cNvPr>
          <p:cNvSpPr>
            <a:spLocks noGrp="1"/>
          </p:cNvSpPr>
          <p:nvPr/>
        </p:nvSpPr>
        <p:spPr>
          <a:xfrm>
            <a:off x="5695950" y="2571750"/>
            <a:ext cx="419100" cy="419100"/>
          </a:xfrm>
          <a:prstGeom prst="ellipse">
            <a:avLst/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D9A4168F-E0B0-4887-9227-2118C6611659}"/>
              </a:ext>
            </a:extLst>
          </p:cNvPr>
          <p:cNvSpPr>
            <a:spLocks noGrp="1"/>
          </p:cNvSpPr>
          <p:nvPr/>
        </p:nvSpPr>
        <p:spPr>
          <a:xfrm>
            <a:off x="5695950" y="25812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62D2C6CA-53DC-44D1-8D61-690368F9F45E}"/>
              </a:ext>
            </a:extLst>
          </p:cNvPr>
          <p:cNvSpPr>
            <a:spLocks noGrp="1"/>
          </p:cNvSpPr>
          <p:nvPr/>
        </p:nvSpPr>
        <p:spPr>
          <a:xfrm>
            <a:off x="5391150" y="3219450"/>
            <a:ext cx="1028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rPr>
              <a:t>mā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BFCCD312-614C-4B2B-8CF5-9FB44DAD4AE0}"/>
              </a:ext>
            </a:extLst>
          </p:cNvPr>
          <p:cNvSpPr>
            <a:spLocks noGrp="1"/>
          </p:cNvSpPr>
          <p:nvPr/>
        </p:nvSpPr>
        <p:spPr>
          <a:xfrm>
            <a:off x="5334000" y="3943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cao — đều</a:t>
            </a:r>
          </a:p>
        </p:txBody>
      </p: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7A0F05A4-C855-444D-A78A-E8C392A34265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1371600" cy="21717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04FEF40E-5883-4545-94A6-16023B060BB0}"/>
              </a:ext>
            </a:extLst>
          </p:cNvPr>
          <p:cNvSpPr>
            <a:spLocks noGrp="1"/>
          </p:cNvSpPr>
          <p:nvPr/>
        </p:nvSpPr>
        <p:spPr>
          <a:xfrm>
            <a:off x="7258050" y="2571750"/>
            <a:ext cx="419100" cy="419100"/>
          </a:xfrm>
          <a:prstGeom prst="ellipse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15576C84-6751-4F19-898C-976EA377903E}"/>
              </a:ext>
            </a:extLst>
          </p:cNvPr>
          <p:cNvSpPr>
            <a:spLocks noGrp="1"/>
          </p:cNvSpPr>
          <p:nvPr/>
        </p:nvSpPr>
        <p:spPr>
          <a:xfrm>
            <a:off x="7258050" y="25812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2C1A54C7-8D02-41B9-A952-5723ED448FFD}"/>
              </a:ext>
            </a:extLst>
          </p:cNvPr>
          <p:cNvSpPr>
            <a:spLocks noGrp="1"/>
          </p:cNvSpPr>
          <p:nvPr/>
        </p:nvSpPr>
        <p:spPr>
          <a:xfrm>
            <a:off x="6953250" y="3219450"/>
            <a:ext cx="1028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rPr>
              <a:t>má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3D2F2D50-5146-4276-BD7F-9CA07D3F9090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đi lên</a:t>
            </a:r>
          </a:p>
        </p:txBody>
      </p:sp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83C7A225-8AF8-4521-BFFB-AFB0049BCD71}"/>
              </a:ext>
            </a:extLst>
          </p:cNvPr>
          <p:cNvSpPr>
            <a:spLocks noGrp="1"/>
          </p:cNvSpPr>
          <p:nvPr/>
        </p:nvSpPr>
        <p:spPr>
          <a:xfrm>
            <a:off x="8343900" y="2381250"/>
            <a:ext cx="1371600" cy="2171700"/>
          </a:xfrm>
          <a:prstGeom prst="roundRect">
            <a:avLst>
              <a:gd name="adj" fmla="val 11111"/>
            </a:avLst>
          </a:prstGeom>
          <a:solidFill>
            <a:srgbClr val="D9EEE8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Hình Bầu dục 23">
            <a:extLst>
              <a:ext uri="{FF2B5EF4-FFF2-40B4-BE49-F238E27FC236}">
                <a16:creationId xmlns:a16="http://schemas.microsoft.com/office/drawing/2014/main" id="{D2EA03B2-C7CC-4711-9F4C-BDE7E6102E9F}"/>
              </a:ext>
            </a:extLst>
          </p:cNvPr>
          <p:cNvSpPr>
            <a:spLocks noGrp="1"/>
          </p:cNvSpPr>
          <p:nvPr/>
        </p:nvSpPr>
        <p:spPr>
          <a:xfrm>
            <a:off x="8820150" y="2571750"/>
            <a:ext cx="419100" cy="419100"/>
          </a:xfrm>
          <a:prstGeom prst="ellipse">
            <a:avLst/>
          </a:prstGeom>
          <a:solidFill>
            <a:srgbClr val="1E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4E4C0C2F-946A-41FA-963B-DD9840C8ABEF}"/>
              </a:ext>
            </a:extLst>
          </p:cNvPr>
          <p:cNvSpPr>
            <a:spLocks noGrp="1"/>
          </p:cNvSpPr>
          <p:nvPr/>
        </p:nvSpPr>
        <p:spPr>
          <a:xfrm>
            <a:off x="8820150" y="25812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B023901C-69EA-4BED-9396-A21667502CDA}"/>
              </a:ext>
            </a:extLst>
          </p:cNvPr>
          <p:cNvSpPr>
            <a:spLocks noGrp="1"/>
          </p:cNvSpPr>
          <p:nvPr/>
        </p:nvSpPr>
        <p:spPr>
          <a:xfrm>
            <a:off x="8515350" y="3219450"/>
            <a:ext cx="1028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rPr>
              <a:t>mǎ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AFEDCEBF-A69C-4819-B47E-389F5D783A74}"/>
              </a:ext>
            </a:extLst>
          </p:cNvPr>
          <p:cNvSpPr>
            <a:spLocks noGrp="1"/>
          </p:cNvSpPr>
          <p:nvPr/>
        </p:nvSpPr>
        <p:spPr>
          <a:xfrm>
            <a:off x="8458200" y="3943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hạ — lên</a:t>
            </a:r>
          </a:p>
        </p:txBody>
      </p:sp>
      <p:sp>
        <p:nvSpPr>
          <p:cNvPr id="28" name="Hình chữ nhật: Góc Tròn 27">
            <a:extLst>
              <a:ext uri="{FF2B5EF4-FFF2-40B4-BE49-F238E27FC236}">
                <a16:creationId xmlns:a16="http://schemas.microsoft.com/office/drawing/2014/main" id="{2571F497-F6F9-4104-B81D-52D4A6EDD2B0}"/>
              </a:ext>
            </a:extLst>
          </p:cNvPr>
          <p:cNvSpPr>
            <a:spLocks noGrp="1"/>
          </p:cNvSpPr>
          <p:nvPr/>
        </p:nvSpPr>
        <p:spPr>
          <a:xfrm>
            <a:off x="9906000" y="2381250"/>
            <a:ext cx="1371600" cy="21717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9CC66F87-0D0E-4689-B24E-C7209DF02FB3}"/>
              </a:ext>
            </a:extLst>
          </p:cNvPr>
          <p:cNvSpPr>
            <a:spLocks noGrp="1"/>
          </p:cNvSpPr>
          <p:nvPr/>
        </p:nvSpPr>
        <p:spPr>
          <a:xfrm>
            <a:off x="10382250" y="2571750"/>
            <a:ext cx="419100" cy="419100"/>
          </a:xfrm>
          <a:prstGeom prst="ellipse">
            <a:avLst/>
          </a:prstGeom>
          <a:solidFill>
            <a:srgbClr val="6D4B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923DBD5F-7E4D-4464-B0C7-C2E123E696D7}"/>
              </a:ext>
            </a:extLst>
          </p:cNvPr>
          <p:cNvSpPr>
            <a:spLocks noGrp="1"/>
          </p:cNvSpPr>
          <p:nvPr/>
        </p:nvSpPr>
        <p:spPr>
          <a:xfrm>
            <a:off x="10382250" y="25812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39956819-5A92-4590-A158-10DE36EBFF2E}"/>
              </a:ext>
            </a:extLst>
          </p:cNvPr>
          <p:cNvSpPr>
            <a:spLocks noGrp="1"/>
          </p:cNvSpPr>
          <p:nvPr/>
        </p:nvSpPr>
        <p:spPr>
          <a:xfrm>
            <a:off x="10077450" y="3219450"/>
            <a:ext cx="1028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41F1A"/>
                </a:solidFill>
                <a:latin typeface="Microsoft YaHei"/>
                <a:ea typeface="Microsoft YaHei"/>
                <a:cs typeface="Microsoft YaHei"/>
              </a:rPr>
              <a:t>mà</a:t>
            </a:r>
          </a:p>
        </p:txBody>
      </p:sp>
      <p:sp>
        <p:nvSpPr>
          <p:cNvPr id="32" name="Hình chữ nhật 31">
            <a:extLst>
              <a:ext uri="{FF2B5EF4-FFF2-40B4-BE49-F238E27FC236}">
                <a16:creationId xmlns:a16="http://schemas.microsoft.com/office/drawing/2014/main" id="{DA8BDCA2-EC68-4894-BB0E-48A144EE0E8B}"/>
              </a:ext>
            </a:extLst>
          </p:cNvPr>
          <p:cNvSpPr>
            <a:spLocks noGrp="1"/>
          </p:cNvSpPr>
          <p:nvPr/>
        </p:nvSpPr>
        <p:spPr>
          <a:xfrm>
            <a:off x="10020300" y="3943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rơi mạnh</a:t>
            </a:r>
          </a:p>
        </p:txBody>
      </p:sp>
      <p:sp>
        <p:nvSpPr>
          <p:cNvPr id="33" name="Hình chữ nhật: Góc Tròn 32">
            <a:extLst>
              <a:ext uri="{FF2B5EF4-FFF2-40B4-BE49-F238E27FC236}">
                <a16:creationId xmlns:a16="http://schemas.microsoft.com/office/drawing/2014/main" id="{E4E133D1-F775-488B-823E-438F3BE211EF}"/>
              </a:ext>
            </a:extLst>
          </p:cNvPr>
          <p:cNvSpPr>
            <a:spLocks noGrp="1"/>
          </p:cNvSpPr>
          <p:nvPr/>
        </p:nvSpPr>
        <p:spPr>
          <a:xfrm>
            <a:off x="5219700" y="4991100"/>
            <a:ext cx="6248400" cy="666750"/>
          </a:xfrm>
          <a:prstGeom prst="roundRect">
            <a:avLst>
              <a:gd name="adj" fmla="val 22857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1D7DDE79-C5E1-4705-B948-0FD063305C75}"/>
              </a:ext>
            </a:extLst>
          </p:cNvPr>
          <p:cNvSpPr>
            <a:spLocks noGrp="1"/>
          </p:cNvSpPr>
          <p:nvPr/>
        </p:nvSpPr>
        <p:spPr>
          <a:xfrm>
            <a:off x="5486400" y="5153025"/>
            <a:ext cx="571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HỌC  ÂM  +  THANH ĐIỆU — không chỉ học chữ cái Pinyin</a:t>
            </a:r>
          </a:p>
        </p:txBody>
      </p:sp>
    </p:spTree>
    <p:extLst>
      <p:ext uri="{BB962C8B-B14F-4D97-AF65-F5344CB8AC3E}">
        <p14:creationId xmlns:p14="http://schemas.microsoft.com/office/powerpoint/2010/main" val="51611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0820BFB7-119F-4AEA-AF69-35BBEC566B5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04  /  PHƯƠNG PHÁP CỦA KHÓA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5A5AF69C-D255-4ED7-A138-EBDD03D48DA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Học theo một vòng lặp ngắn, nhưng đủ sâu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3A0DD465-9263-4C1B-B997-D8C41418930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1C708521-BEBD-42B3-AE4B-E90A8E619F3C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1DE6F07-A95D-4C77-933E-4237E5E66801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05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F858245-8201-4B59-BAD0-FCEF5BE7909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0EA28C18-61BE-4961-ABF8-DD589A8ACD5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DA5FBF0A-28C9-4477-91BC-4ED1F87F9CC8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847850" cy="2209800"/>
          </a:xfrm>
          <a:prstGeom prst="roundRect">
            <a:avLst>
              <a:gd name="adj" fmla="val 8247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F21E6A59-6BF6-4ECC-9BEB-6397FBB01BDA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7D505E32-4882-475E-881B-B56BD71C1F94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TỪ MỚI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177DA943-8C1F-4D14-A44E-9493D5DA102E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Chữ Hán + Pinyin</a:t>
            </a:r>
          </a:p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nghĩa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FFD9F915-5FFA-4341-B621-F762B9A7F60A}"/>
              </a:ext>
            </a:extLst>
          </p:cNvPr>
          <p:cNvSpPr>
            <a:spLocks noGrp="1"/>
          </p:cNvSpPr>
          <p:nvPr/>
        </p:nvSpPr>
        <p:spPr>
          <a:xfrm>
            <a:off x="2495550" y="3067050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561ABF21-6923-4E48-9310-A2C8C4D02F68}"/>
              </a:ext>
            </a:extLst>
          </p:cNvPr>
          <p:cNvSpPr>
            <a:spLocks noGrp="1"/>
          </p:cNvSpPr>
          <p:nvPr/>
        </p:nvSpPr>
        <p:spPr>
          <a:xfrm>
            <a:off x="2800350" y="2190750"/>
            <a:ext cx="1847850" cy="2209800"/>
          </a:xfrm>
          <a:prstGeom prst="roundRect">
            <a:avLst>
              <a:gd name="adj" fmla="val 8247"/>
            </a:avLst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6313CFA1-8496-4F3B-99FD-13C1130E025B}"/>
              </a:ext>
            </a:extLst>
          </p:cNvPr>
          <p:cNvSpPr>
            <a:spLocks noGrp="1"/>
          </p:cNvSpPr>
          <p:nvPr/>
        </p:nvSpPr>
        <p:spPr>
          <a:xfrm>
            <a:off x="2971800" y="236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F8F7DAC7-728F-4EA9-9920-69465D88AED4}"/>
              </a:ext>
            </a:extLst>
          </p:cNvPr>
          <p:cNvSpPr>
            <a:spLocks noGrp="1"/>
          </p:cNvSpPr>
          <p:nvPr/>
        </p:nvSpPr>
        <p:spPr>
          <a:xfrm>
            <a:off x="2971800" y="2895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00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HỘI THOẠI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9D32A2D8-4C74-4BD2-A098-E814F03AA473}"/>
              </a:ext>
            </a:extLst>
          </p:cNvPr>
          <p:cNvSpPr>
            <a:spLocks noGrp="1"/>
          </p:cNvSpPr>
          <p:nvPr/>
        </p:nvSpPr>
        <p:spPr>
          <a:xfrm>
            <a:off x="2971800" y="3676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0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Từ mới xuất hiện</a:t>
            </a:r>
          </a:p>
          <a:p>
            <a:pPr algn="ctr">
              <a:lnSpc>
                <a:spcPct val="95000"/>
              </a:lnSpc>
              <a:buNone/>
              <a:defRPr sz="1125" b="0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trong ngữ cảnh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F6FFE33C-D3C5-44AC-A76D-F543DCB4D9D2}"/>
              </a:ext>
            </a:extLst>
          </p:cNvPr>
          <p:cNvSpPr>
            <a:spLocks noGrp="1"/>
          </p:cNvSpPr>
          <p:nvPr/>
        </p:nvSpPr>
        <p:spPr>
          <a:xfrm>
            <a:off x="4686300" y="3067050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7108CBAC-279C-41DB-A78C-D47077AB2865}"/>
              </a:ext>
            </a:extLst>
          </p:cNvPr>
          <p:cNvSpPr>
            <a:spLocks noGrp="1"/>
          </p:cNvSpPr>
          <p:nvPr/>
        </p:nvSpPr>
        <p:spPr>
          <a:xfrm>
            <a:off x="4991100" y="2190750"/>
            <a:ext cx="1847850" cy="2209800"/>
          </a:xfrm>
          <a:prstGeom prst="roundRect">
            <a:avLst>
              <a:gd name="adj" fmla="val 8247"/>
            </a:avLst>
          </a:prstGeom>
          <a:solidFill>
            <a:srgbClr val="1E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1DF9022B-A0DB-4DBB-9CCB-75CFFAF0D4B0}"/>
              </a:ext>
            </a:extLst>
          </p:cNvPr>
          <p:cNvSpPr>
            <a:spLocks noGrp="1"/>
          </p:cNvSpPr>
          <p:nvPr/>
        </p:nvSpPr>
        <p:spPr>
          <a:xfrm>
            <a:off x="5162550" y="236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ABDFE429-1D8E-49DF-82EB-44E191D1BEFE}"/>
              </a:ext>
            </a:extLst>
          </p:cNvPr>
          <p:cNvSpPr>
            <a:spLocks noGrp="1"/>
          </p:cNvSpPr>
          <p:nvPr/>
        </p:nvSpPr>
        <p:spPr>
          <a:xfrm>
            <a:off x="5162550" y="2895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LUYỆN TẬP</a:t>
            </a:r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735F2EF9-6F61-4FC9-9D50-4B654AB5E18E}"/>
              </a:ext>
            </a:extLst>
          </p:cNvPr>
          <p:cNvSpPr>
            <a:spLocks noGrp="1"/>
          </p:cNvSpPr>
          <p:nvPr/>
        </p:nvSpPr>
        <p:spPr>
          <a:xfrm>
            <a:off x="5162550" y="3676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Ôn lại một</a:t>
            </a:r>
          </a:p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nhóm bài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7CE156FA-4540-44DB-B888-407D4885D5A8}"/>
              </a:ext>
            </a:extLst>
          </p:cNvPr>
          <p:cNvSpPr>
            <a:spLocks noGrp="1"/>
          </p:cNvSpPr>
          <p:nvPr/>
        </p:nvSpPr>
        <p:spPr>
          <a:xfrm>
            <a:off x="6877050" y="3067050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89A2F540-88EB-4C37-8419-BF9438126035}"/>
              </a:ext>
            </a:extLst>
          </p:cNvPr>
          <p:cNvSpPr>
            <a:spLocks noGrp="1"/>
          </p:cNvSpPr>
          <p:nvPr/>
        </p:nvSpPr>
        <p:spPr>
          <a:xfrm>
            <a:off x="7181850" y="2190750"/>
            <a:ext cx="1847850" cy="2209800"/>
          </a:xfrm>
          <a:prstGeom prst="roundRect">
            <a:avLst>
              <a:gd name="adj" fmla="val 8247"/>
            </a:avLst>
          </a:prstGeom>
          <a:solidFill>
            <a:srgbClr val="6D4B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3C1F5D2D-D60E-4D86-BBBE-C4434ECBC7A8}"/>
              </a:ext>
            </a:extLst>
          </p:cNvPr>
          <p:cNvSpPr>
            <a:spLocks noGrp="1"/>
          </p:cNvSpPr>
          <p:nvPr/>
        </p:nvSpPr>
        <p:spPr>
          <a:xfrm>
            <a:off x="7353300" y="236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938B75E0-E216-40D8-AEEF-B23936393C61}"/>
              </a:ext>
            </a:extLst>
          </p:cNvPr>
          <p:cNvSpPr>
            <a:spLocks noGrp="1"/>
          </p:cNvSpPr>
          <p:nvPr/>
        </p:nvSpPr>
        <p:spPr>
          <a:xfrm>
            <a:off x="7353300" y="2895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BÀI TẬP VỀ NHÀ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0CB5478B-80F1-4D10-AEA6-5CC3D27EC4A1}"/>
              </a:ext>
            </a:extLst>
          </p:cNvPr>
          <p:cNvSpPr>
            <a:spLocks noGrp="1"/>
          </p:cNvSpPr>
          <p:nvPr/>
        </p:nvSpPr>
        <p:spPr>
          <a:xfrm>
            <a:off x="7353300" y="3676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Chủ động làm bài</a:t>
            </a:r>
          </a:p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để nhớ lâu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D2E2103C-B520-4586-AFA4-095DD1D36437}"/>
              </a:ext>
            </a:extLst>
          </p:cNvPr>
          <p:cNvSpPr>
            <a:spLocks noGrp="1"/>
          </p:cNvSpPr>
          <p:nvPr/>
        </p:nvSpPr>
        <p:spPr>
          <a:xfrm>
            <a:off x="9067800" y="3067050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Hình chữ nhật: Góc Tròn 27">
            <a:extLst>
              <a:ext uri="{FF2B5EF4-FFF2-40B4-BE49-F238E27FC236}">
                <a16:creationId xmlns:a16="http://schemas.microsoft.com/office/drawing/2014/main" id="{D500E9A3-0D4D-4DD1-A07B-F47DDFC6F7EA}"/>
              </a:ext>
            </a:extLst>
          </p:cNvPr>
          <p:cNvSpPr>
            <a:spLocks noGrp="1"/>
          </p:cNvSpPr>
          <p:nvPr/>
        </p:nvSpPr>
        <p:spPr>
          <a:xfrm>
            <a:off x="9372600" y="2190750"/>
            <a:ext cx="1847850" cy="2209800"/>
          </a:xfrm>
          <a:prstGeom prst="roundRect">
            <a:avLst>
              <a:gd name="adj" fmla="val 8247"/>
            </a:avLst>
          </a:prstGeom>
          <a:solidFill>
            <a:srgbClr val="8F24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AD42A72C-26B1-4AAF-ADB9-A617B1803009}"/>
              </a:ext>
            </a:extLst>
          </p:cNvPr>
          <p:cNvSpPr>
            <a:spLocks noGrp="1"/>
          </p:cNvSpPr>
          <p:nvPr/>
        </p:nvSpPr>
        <p:spPr>
          <a:xfrm>
            <a:off x="9544050" y="236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0EB4F4E4-6D00-4AED-A1E5-9A0281D536AC}"/>
              </a:ext>
            </a:extLst>
          </p:cNvPr>
          <p:cNvSpPr>
            <a:spLocks noGrp="1"/>
          </p:cNvSpPr>
          <p:nvPr/>
        </p:nvSpPr>
        <p:spPr>
          <a:xfrm>
            <a:off x="9544050" y="2895600"/>
            <a:ext cx="1504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ÔN LẠI</a:t>
            </a:r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2C30A34F-CEBD-49C8-AB68-A6D601B8FB45}"/>
              </a:ext>
            </a:extLst>
          </p:cNvPr>
          <p:cNvSpPr>
            <a:spLocks noGrp="1"/>
          </p:cNvSpPr>
          <p:nvPr/>
        </p:nvSpPr>
        <p:spPr>
          <a:xfrm>
            <a:off x="9544050" y="3676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Ghi nhớ</a:t>
            </a:r>
          </a:p>
          <a:p>
            <a:pPr algn="ctr">
              <a:lnSpc>
                <a:spcPct val="95000"/>
              </a:lnSpc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dài hạn</a:t>
            </a:r>
          </a:p>
        </p:txBody>
      </p:sp>
      <p:sp>
        <p:nvSpPr>
          <p:cNvPr id="32" name="Hình chữ nhật: Góc Tròn 31">
            <a:extLst>
              <a:ext uri="{FF2B5EF4-FFF2-40B4-BE49-F238E27FC236}">
                <a16:creationId xmlns:a16="http://schemas.microsoft.com/office/drawing/2014/main" id="{29882B95-95B5-42BB-8DE6-083F9A548939}"/>
              </a:ext>
            </a:extLst>
          </p:cNvPr>
          <p:cNvSpPr>
            <a:spLocks noGrp="1"/>
          </p:cNvSpPr>
          <p:nvPr/>
        </p:nvSpPr>
        <p:spPr>
          <a:xfrm>
            <a:off x="1562100" y="4991100"/>
            <a:ext cx="9048750" cy="628650"/>
          </a:xfrm>
          <a:prstGeom prst="roundRect">
            <a:avLst>
              <a:gd name="adj" fmla="val 50000"/>
            </a:avLst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7BFE09BD-9ADB-48A4-938D-1FF039970735}"/>
              </a:ext>
            </a:extLst>
          </p:cNvPr>
          <p:cNvSpPr>
            <a:spLocks noGrp="1"/>
          </p:cNvSpPr>
          <p:nvPr/>
        </p:nvSpPr>
        <p:spPr>
          <a:xfrm>
            <a:off x="1866900" y="5162550"/>
            <a:ext cx="843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Xem video giúp bạn tiếp nhận kiến thức.  Làm bài giúp kiến thức đi vào trí nhớ dài hạn.</a:t>
            </a:r>
          </a:p>
        </p:txBody>
      </p:sp>
    </p:spTree>
    <p:extLst>
      <p:ext uri="{BB962C8B-B14F-4D97-AF65-F5344CB8AC3E}">
        <p14:creationId xmlns:p14="http://schemas.microsoft.com/office/powerpoint/2010/main" val="61920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B7D232AA-A307-485A-AAD5-E5F9EBBE02F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05  /  NHỊP HỌC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A29B6485-74F2-4EBB-9B01-B207488548A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Mỗi bài học nên diễn ra như thế nào?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FA60B3A2-2A81-4822-9183-ABBBA57A2C8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21726D63-8D6B-42A8-9518-B3CAD8E066F2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5ABF097-2F8C-44A4-9DBA-8754A362C631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06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90A76185-8E38-464B-B61B-B7DE4D0447C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9D229181-2584-428F-B928-CBCD75193C2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91A45752-23E9-4D23-A31A-2C1B7BBB974B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762250" cy="3524250"/>
          </a:xfrm>
          <a:prstGeom prst="roundRect">
            <a:avLst>
              <a:gd name="adj" fmla="val 5517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657A6742-5F31-4A31-B25C-4AAD9849EAF9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209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Ít từ mới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4A9B9B7D-2CBE-4567-953E-49D378A95597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2095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rPr>
              <a:t>→ học sâu</a:t>
            </a:r>
          </a:p>
          <a:p>
            <a:pPr algn="ctr">
              <a:lnSpc>
                <a:spcPct val="95000"/>
              </a:lnSpc>
              <a:buNone/>
              <a:def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rPr>
              <a:t>→ nghe được</a:t>
            </a:r>
          </a:p>
          <a:p>
            <a:pPr algn="ctr">
              <a:lnSpc>
                <a:spcPct val="95000"/>
              </a:lnSpc>
              <a:buNone/>
              <a:def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rPr>
              <a:t>→ đọc được</a:t>
            </a:r>
          </a:p>
          <a:p>
            <a:pPr algn="ctr">
              <a:lnSpc>
                <a:spcPct val="95000"/>
              </a:lnSpc>
              <a:buNone/>
              <a:def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rPr>
              <a:t>→ dùng được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29354F96-7766-4CC5-A206-2E2EBD664AD7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Không cần học hàng chục từ cùng lúc.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8C0E2864-38DC-4FD4-9E9D-5AD784FA21E8}"/>
              </a:ext>
            </a:extLst>
          </p:cNvPr>
          <p:cNvSpPr>
            <a:spLocks noGrp="1"/>
          </p:cNvSpPr>
          <p:nvPr/>
        </p:nvSpPr>
        <p:spPr>
          <a:xfrm>
            <a:off x="4000500" y="1905000"/>
            <a:ext cx="3009900" cy="13716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5F1E043E-63EF-430B-B1B2-5513C6B53D3A}"/>
              </a:ext>
            </a:extLst>
          </p:cNvPr>
          <p:cNvSpPr>
            <a:spLocks noGrp="1"/>
          </p:cNvSpPr>
          <p:nvPr/>
        </p:nvSpPr>
        <p:spPr>
          <a:xfrm>
            <a:off x="4229100" y="2152650"/>
            <a:ext cx="400050" cy="400050"/>
          </a:xfrm>
          <a:prstGeom prst="ellipse">
            <a:avLst/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B7EC45F2-8AE2-419E-893D-BD4F2655433C}"/>
              </a:ext>
            </a:extLst>
          </p:cNvPr>
          <p:cNvSpPr>
            <a:spLocks noGrp="1"/>
          </p:cNvSpPr>
          <p:nvPr/>
        </p:nvSpPr>
        <p:spPr>
          <a:xfrm>
            <a:off x="4229100" y="2162175"/>
            <a:ext cx="400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128ECEB7-B2D2-43DB-A9BA-984849A7A1F7}"/>
              </a:ext>
            </a:extLst>
          </p:cNvPr>
          <p:cNvSpPr>
            <a:spLocks noGrp="1"/>
          </p:cNvSpPr>
          <p:nvPr/>
        </p:nvSpPr>
        <p:spPr>
          <a:xfrm>
            <a:off x="4781550" y="21717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Học từ mới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83E5E805-32DB-47D0-8048-E0E5A297B633}"/>
              </a:ext>
            </a:extLst>
          </p:cNvPr>
          <p:cNvSpPr>
            <a:spLocks noGrp="1"/>
          </p:cNvSpPr>
          <p:nvPr/>
        </p:nvSpPr>
        <p:spPr>
          <a:xfrm>
            <a:off x="4781550" y="259080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Chữ Hán + Pinyin + nghĩa</a:t>
            </a:r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32CFA577-57F5-45BC-A522-E0059EBDE8C2}"/>
              </a:ext>
            </a:extLst>
          </p:cNvPr>
          <p:cNvSpPr>
            <a:spLocks noGrp="1"/>
          </p:cNvSpPr>
          <p:nvPr/>
        </p:nvSpPr>
        <p:spPr>
          <a:xfrm>
            <a:off x="7353300" y="1905000"/>
            <a:ext cx="3009900" cy="13716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750719B0-12AC-42F1-808D-E97A4E57E310}"/>
              </a:ext>
            </a:extLst>
          </p:cNvPr>
          <p:cNvSpPr>
            <a:spLocks noGrp="1"/>
          </p:cNvSpPr>
          <p:nvPr/>
        </p:nvSpPr>
        <p:spPr>
          <a:xfrm>
            <a:off x="7581900" y="2152650"/>
            <a:ext cx="400050" cy="400050"/>
          </a:xfrm>
          <a:prstGeom prst="ellipse">
            <a:avLst/>
          </a:prstGeom>
          <a:solidFill>
            <a:srgbClr val="1E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DD12042C-E6D3-4519-A9FF-98B34A46C409}"/>
              </a:ext>
            </a:extLst>
          </p:cNvPr>
          <p:cNvSpPr>
            <a:spLocks noGrp="1"/>
          </p:cNvSpPr>
          <p:nvPr/>
        </p:nvSpPr>
        <p:spPr>
          <a:xfrm>
            <a:off x="7581900" y="2162175"/>
            <a:ext cx="400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EBE9986-E5DB-4ECF-91DB-640DD78C35FD}"/>
              </a:ext>
            </a:extLst>
          </p:cNvPr>
          <p:cNvSpPr>
            <a:spLocks noGrp="1"/>
          </p:cNvSpPr>
          <p:nvPr/>
        </p:nvSpPr>
        <p:spPr>
          <a:xfrm>
            <a:off x="8134350" y="21717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Nghe hội thoại</a:t>
            </a:r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3AF25E39-871C-4550-9339-0B3AB53D18BF}"/>
              </a:ext>
            </a:extLst>
          </p:cNvPr>
          <p:cNvSpPr>
            <a:spLocks noGrp="1"/>
          </p:cNvSpPr>
          <p:nvPr/>
        </p:nvSpPr>
        <p:spPr>
          <a:xfrm>
            <a:off x="8134350" y="259080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Đưa từ vào ngữ cảnh thật</a:t>
            </a:r>
          </a:p>
        </p:txBody>
      </p:sp>
      <p:sp>
        <p:nvSpPr>
          <p:cNvPr id="22" name="Hình chữ nhật: Góc Tròn 21">
            <a:extLst>
              <a:ext uri="{FF2B5EF4-FFF2-40B4-BE49-F238E27FC236}">
                <a16:creationId xmlns:a16="http://schemas.microsoft.com/office/drawing/2014/main" id="{F219BCD7-A509-4FFA-B399-EBD58BAB06FB}"/>
              </a:ext>
            </a:extLst>
          </p:cNvPr>
          <p:cNvSpPr>
            <a:spLocks noGrp="1"/>
          </p:cNvSpPr>
          <p:nvPr/>
        </p:nvSpPr>
        <p:spPr>
          <a:xfrm>
            <a:off x="4000500" y="3562350"/>
            <a:ext cx="3009900" cy="13716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Hình Bầu dục 22">
            <a:extLst>
              <a:ext uri="{FF2B5EF4-FFF2-40B4-BE49-F238E27FC236}">
                <a16:creationId xmlns:a16="http://schemas.microsoft.com/office/drawing/2014/main" id="{DC6B1C28-722E-4B6F-8D3D-1658966E6E77}"/>
              </a:ext>
            </a:extLst>
          </p:cNvPr>
          <p:cNvSpPr>
            <a:spLocks noGrp="1"/>
          </p:cNvSpPr>
          <p:nvPr/>
        </p:nvSpPr>
        <p:spPr>
          <a:xfrm>
            <a:off x="4229100" y="3810000"/>
            <a:ext cx="400050" cy="400050"/>
          </a:xfrm>
          <a:prstGeom prst="ellipse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6813800C-3BFD-4875-9751-CD5B1F78E460}"/>
              </a:ext>
            </a:extLst>
          </p:cNvPr>
          <p:cNvSpPr>
            <a:spLocks noGrp="1"/>
          </p:cNvSpPr>
          <p:nvPr/>
        </p:nvSpPr>
        <p:spPr>
          <a:xfrm>
            <a:off x="4229100" y="3819525"/>
            <a:ext cx="400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363EC55B-B831-4CAA-B4A8-35863DC188C3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Luyện tập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EBB2B677-89D1-4511-BDF0-DD3DE9F0BAC3}"/>
              </a:ext>
            </a:extLst>
          </p:cNvPr>
          <p:cNvSpPr>
            <a:spLocks noGrp="1"/>
          </p:cNvSpPr>
          <p:nvPr/>
        </p:nvSpPr>
        <p:spPr>
          <a:xfrm>
            <a:off x="4781550" y="42481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Ôn nhóm bài, phát hiện điểm yếu</a:t>
            </a:r>
          </a:p>
        </p:txBody>
      </p:sp>
      <p:sp>
        <p:nvSpPr>
          <p:cNvPr id="27" name="Hình chữ nhật: Góc Tròn 26">
            <a:extLst>
              <a:ext uri="{FF2B5EF4-FFF2-40B4-BE49-F238E27FC236}">
                <a16:creationId xmlns:a16="http://schemas.microsoft.com/office/drawing/2014/main" id="{E782B50E-2CCB-4A1F-BF2B-0C4F3D8576B8}"/>
              </a:ext>
            </a:extLst>
          </p:cNvPr>
          <p:cNvSpPr>
            <a:spLocks noGrp="1"/>
          </p:cNvSpPr>
          <p:nvPr/>
        </p:nvSpPr>
        <p:spPr>
          <a:xfrm>
            <a:off x="7353300" y="3562350"/>
            <a:ext cx="3009900" cy="1371600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Hình Bầu dục 27">
            <a:extLst>
              <a:ext uri="{FF2B5EF4-FFF2-40B4-BE49-F238E27FC236}">
                <a16:creationId xmlns:a16="http://schemas.microsoft.com/office/drawing/2014/main" id="{1E75CD3A-F4F9-4347-8A13-6A259C8E3F63}"/>
              </a:ext>
            </a:extLst>
          </p:cNvPr>
          <p:cNvSpPr>
            <a:spLocks noGrp="1"/>
          </p:cNvSpPr>
          <p:nvPr/>
        </p:nvSpPr>
        <p:spPr>
          <a:xfrm>
            <a:off x="7581900" y="3810000"/>
            <a:ext cx="400050" cy="400050"/>
          </a:xfrm>
          <a:prstGeom prst="ellipse">
            <a:avLst/>
          </a:prstGeom>
          <a:solidFill>
            <a:srgbClr val="6D4B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99940131-1036-4A08-A769-CEFCBA303667}"/>
              </a:ext>
            </a:extLst>
          </p:cNvPr>
          <p:cNvSpPr>
            <a:spLocks noGrp="1"/>
          </p:cNvSpPr>
          <p:nvPr/>
        </p:nvSpPr>
        <p:spPr>
          <a:xfrm>
            <a:off x="7581900" y="3819525"/>
            <a:ext cx="400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5422339D-8223-441F-9063-F63164D23185}"/>
              </a:ext>
            </a:extLst>
          </p:cNvPr>
          <p:cNvSpPr>
            <a:spLocks noGrp="1"/>
          </p:cNvSpPr>
          <p:nvPr/>
        </p:nvSpPr>
        <p:spPr>
          <a:xfrm>
            <a:off x="8134350" y="38290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Làm bài tập</a:t>
            </a:r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8763EDC9-E9B7-46C9-A11D-5EB104B63F9C}"/>
              </a:ext>
            </a:extLst>
          </p:cNvPr>
          <p:cNvSpPr>
            <a:spLocks noGrp="1"/>
          </p:cNvSpPr>
          <p:nvPr/>
        </p:nvSpPr>
        <p:spPr>
          <a:xfrm>
            <a:off x="8134350" y="42481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105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Củng cố và chuyển sang nhớ lâu</a:t>
            </a:r>
          </a:p>
        </p:txBody>
      </p:sp>
      <p:sp>
        <p:nvSpPr>
          <p:cNvPr id="32" name="Hình chữ nhật 31">
            <a:extLst>
              <a:ext uri="{FF2B5EF4-FFF2-40B4-BE49-F238E27FC236}">
                <a16:creationId xmlns:a16="http://schemas.microsoft.com/office/drawing/2014/main" id="{CFCE1B75-AF90-4875-AD2E-19AE9155C346}"/>
              </a:ext>
            </a:extLst>
          </p:cNvPr>
          <p:cNvSpPr>
            <a:spLocks noGrp="1"/>
          </p:cNvSpPr>
          <p:nvPr/>
        </p:nvSpPr>
        <p:spPr>
          <a:xfrm>
            <a:off x="4000500" y="5467350"/>
            <a:ext cx="647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Một nhóm nhỏ  →  một vòng lặp hoàn chỉnh</a:t>
            </a:r>
          </a:p>
        </p:txBody>
      </p:sp>
    </p:spTree>
    <p:extLst>
      <p:ext uri="{BB962C8B-B14F-4D97-AF65-F5344CB8AC3E}">
        <p14:creationId xmlns:p14="http://schemas.microsoft.com/office/powerpoint/2010/main" val="24322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4D528033-4881-4912-BAE5-D446DC0C11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06  /  HỌC TRONG NGỮ CẢNH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A098D40F-11CD-4625-A233-8E947761133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Từ mới chỉ thật sự sống khi đi vào hội thoại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9FAE9C96-B2B3-40A4-8EDA-BC8244BBF96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BEB12E14-D59F-42DF-A5E8-F017A6D10C72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8D89F2C3-8BB8-43F5-ADBE-532620686E6D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07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449994AF-8182-4797-9FB0-26CD2AE7DE5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4B74BB97-7EDC-4DD7-AD2C-6BDEB9C16A7B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A99DC922-C3FB-44C8-A94F-422E0A1C5335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5638800" cy="3810000"/>
          </a:xfrm>
          <a:prstGeom prst="roundRect">
            <a:avLst>
              <a:gd name="adj" fmla="val 4000"/>
            </a:avLst>
          </a:prstGeom>
          <a:solidFill>
            <a:srgbClr val="F7F2EA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059F60BE-1D38-4196-BBC6-0B662B0BFF4D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1409700" cy="304800"/>
          </a:xfrm>
          <a:prstGeom prst="roundRect">
            <a:avLst>
              <a:gd name="adj" fmla="val 50000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1A163D3D-07AB-44D0-A452-C6E0FBC842F4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HỘI THOẠI MẪU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23A9503C-FF7B-4156-8814-4F42ADFD3BD4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453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 i="0">
                <a:solidFill>
                  <a:srgbClr val="C83C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C83C2F"/>
                </a:solidFill>
                <a:latin typeface="Microsoft YaHei"/>
                <a:ea typeface="Microsoft YaHei"/>
                <a:cs typeface="Microsoft YaHei"/>
              </a:rPr>
              <a:t>A  你好！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DE768832-8E14-4B27-B04D-453DA2BD206C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453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rPr>
              <a:t>B  你好！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D1B2A6A-3406-418B-8E5B-8668CB1944D8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453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 i="0">
                <a:solidFill>
                  <a:srgbClr val="C83C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C83C2F"/>
                </a:solidFill>
                <a:latin typeface="Microsoft YaHei"/>
                <a:ea typeface="Microsoft YaHei"/>
                <a:cs typeface="Microsoft YaHei"/>
              </a:rPr>
              <a:t>A  你学习汉语吗？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E16E9E55-C5AD-4EE0-88AD-D7CBD412EE27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453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E7A6E"/>
                </a:solidFill>
                <a:latin typeface="Microsoft YaHei"/>
                <a:ea typeface="Microsoft YaHei"/>
                <a:cs typeface="Microsoft YaHei"/>
              </a:rPr>
              <a:t>B  是，我学习汉语。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EA3D135D-7F11-4BA4-8A4C-C6317F1B4F2A}"/>
              </a:ext>
            </a:extLst>
          </p:cNvPr>
          <p:cNvSpPr>
            <a:spLocks noGrp="1"/>
          </p:cNvSpPr>
          <p:nvPr/>
        </p:nvSpPr>
        <p:spPr>
          <a:xfrm>
            <a:off x="952500" y="5086350"/>
            <a:ext cx="466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Nǐ hǎo!  ·  Nǐ xuéxí Hànyǔ ma?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5B5C2A95-8CB7-4EE5-953F-09A9E6AAD4E0}"/>
              </a:ext>
            </a:extLst>
          </p:cNvPr>
          <p:cNvSpPr>
            <a:spLocks noGrp="1"/>
          </p:cNvSpPr>
          <p:nvPr/>
        </p:nvSpPr>
        <p:spPr>
          <a:xfrm>
            <a:off x="6953250" y="1905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TỪ → CÂU → NGỮ CẢNH</a:t>
            </a:r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2BA123BB-69EA-436F-A312-DCA174A78371}"/>
              </a:ext>
            </a:extLst>
          </p:cNvPr>
          <p:cNvSpPr>
            <a:spLocks noGrp="1"/>
          </p:cNvSpPr>
          <p:nvPr/>
        </p:nvSpPr>
        <p:spPr>
          <a:xfrm>
            <a:off x="6953250" y="2381250"/>
            <a:ext cx="4229100" cy="857250"/>
          </a:xfrm>
          <a:prstGeom prst="roundRect">
            <a:avLst>
              <a:gd name="adj" fmla="val 17778"/>
            </a:avLst>
          </a:prstGeom>
          <a:solidFill>
            <a:srgbClr val="F6DA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A2F1BC6D-F4DD-4232-A397-2DBA950CF40E}"/>
              </a:ext>
            </a:extLst>
          </p:cNvPr>
          <p:cNvSpPr>
            <a:spLocks noGrp="1"/>
          </p:cNvSpPr>
          <p:nvPr/>
        </p:nvSpPr>
        <p:spPr>
          <a:xfrm>
            <a:off x="7181850" y="25336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 fontScale="91667"/>
          </a:bodyPr>
          <a:lstStyle/>
          <a:p>
            <a:pPr algn="l">
              <a:defRPr sz="1500" b="1" i="0">
                <a:solidFill>
                  <a:srgbClr val="C83C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83C2F"/>
                </a:solidFill>
                <a:latin typeface="Microsoft YaHei"/>
                <a:ea typeface="Microsoft YaHei"/>
                <a:cs typeface="Microsoft YaHei"/>
              </a:rPr>
              <a:t>你好！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E7A4F489-EBE9-4784-B17F-7A26A9FB0735}"/>
              </a:ext>
            </a:extLst>
          </p:cNvPr>
          <p:cNvSpPr>
            <a:spLocks noGrp="1"/>
          </p:cNvSpPr>
          <p:nvPr/>
        </p:nvSpPr>
        <p:spPr>
          <a:xfrm>
            <a:off x="7181850" y="2847975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Nǐ hǎo!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34EB90C-6611-47DB-82C4-69D52932DB10}"/>
              </a:ext>
            </a:extLst>
          </p:cNvPr>
          <p:cNvSpPr>
            <a:spLocks noGrp="1"/>
          </p:cNvSpPr>
          <p:nvPr/>
        </p:nvSpPr>
        <p:spPr>
          <a:xfrm>
            <a:off x="9258300" y="26765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50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Xin chào!</a:t>
            </a:r>
          </a:p>
        </p:txBody>
      </p:sp>
      <p:sp>
        <p:nvSpPr>
          <p:cNvPr id="21" name="Hình chữ nhật: Góc Tròn 20">
            <a:extLst>
              <a:ext uri="{FF2B5EF4-FFF2-40B4-BE49-F238E27FC236}">
                <a16:creationId xmlns:a16="http://schemas.microsoft.com/office/drawing/2014/main" id="{B21325B4-68C8-4431-8691-2DB4C0FC47CE}"/>
              </a:ext>
            </a:extLst>
          </p:cNvPr>
          <p:cNvSpPr>
            <a:spLocks noGrp="1"/>
          </p:cNvSpPr>
          <p:nvPr/>
        </p:nvSpPr>
        <p:spPr>
          <a:xfrm>
            <a:off x="6953250" y="3448050"/>
            <a:ext cx="4229100" cy="857250"/>
          </a:xfrm>
          <a:prstGeom prst="roundRect">
            <a:avLst>
              <a:gd name="adj" fmla="val 17778"/>
            </a:avLst>
          </a:prstGeom>
          <a:solidFill>
            <a:srgbClr val="D9E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F7BEC5BD-3C89-49FC-B60A-FC62CE2C960E}"/>
              </a:ext>
            </a:extLst>
          </p:cNvPr>
          <p:cNvSpPr>
            <a:spLocks noGrp="1"/>
          </p:cNvSpPr>
          <p:nvPr/>
        </p:nvSpPr>
        <p:spPr>
          <a:xfrm>
            <a:off x="7181850" y="36004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 fontScale="91667"/>
          </a:bodyPr>
          <a:lstStyle/>
          <a:p>
            <a:pPr algn="l">
              <a:defRPr sz="1500" b="1" i="0">
                <a:solidFill>
                  <a:srgbClr val="1257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2574F"/>
                </a:solidFill>
                <a:latin typeface="Microsoft YaHei"/>
                <a:ea typeface="Microsoft YaHei"/>
                <a:cs typeface="Microsoft YaHei"/>
              </a:rPr>
              <a:t>我学习汉语。</a:t>
            </a:r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F0345245-0295-4319-836F-C517AA431A72}"/>
              </a:ext>
            </a:extLst>
          </p:cNvPr>
          <p:cNvSpPr>
            <a:spLocks noGrp="1"/>
          </p:cNvSpPr>
          <p:nvPr/>
        </p:nvSpPr>
        <p:spPr>
          <a:xfrm>
            <a:off x="7181850" y="3914775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Wǒ xuéxí Hànyǔ.</a:t>
            </a: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931E1B67-179F-46E5-B0F6-9AD65648C100}"/>
              </a:ext>
            </a:extLst>
          </p:cNvPr>
          <p:cNvSpPr>
            <a:spLocks noGrp="1"/>
          </p:cNvSpPr>
          <p:nvPr/>
        </p:nvSpPr>
        <p:spPr>
          <a:xfrm>
            <a:off x="9258300" y="37433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50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Tôi học tiếng Trung.</a:t>
            </a:r>
          </a:p>
        </p:txBody>
      </p:sp>
      <p:sp>
        <p:nvSpPr>
          <p:cNvPr id="25" name="Hình chữ nhật: Góc Tròn 24">
            <a:extLst>
              <a:ext uri="{FF2B5EF4-FFF2-40B4-BE49-F238E27FC236}">
                <a16:creationId xmlns:a16="http://schemas.microsoft.com/office/drawing/2014/main" id="{BE2D397D-AF6B-4464-8B59-3BD7AEF33BC2}"/>
              </a:ext>
            </a:extLst>
          </p:cNvPr>
          <p:cNvSpPr>
            <a:spLocks noGrp="1"/>
          </p:cNvSpPr>
          <p:nvPr/>
        </p:nvSpPr>
        <p:spPr>
          <a:xfrm>
            <a:off x="6953250" y="4514850"/>
            <a:ext cx="4229100" cy="857250"/>
          </a:xfrm>
          <a:prstGeom prst="roundRect">
            <a:avLst>
              <a:gd name="adj" fmla="val 17778"/>
            </a:avLst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BF42D9A6-F650-4ECD-9C67-8EC05417619A}"/>
              </a:ext>
            </a:extLst>
          </p:cNvPr>
          <p:cNvSpPr>
            <a:spLocks noGrp="1"/>
          </p:cNvSpPr>
          <p:nvPr/>
        </p:nvSpPr>
        <p:spPr>
          <a:xfrm>
            <a:off x="7181850" y="46672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 fontScale="91667"/>
          </a:bodyPr>
          <a:lstStyle/>
          <a:p>
            <a:pPr algn="l">
              <a:defRPr sz="1500" b="1" i="0">
                <a:solidFill>
                  <a:srgbClr val="8F24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F241D"/>
                </a:solidFill>
                <a:latin typeface="Microsoft YaHei"/>
                <a:ea typeface="Microsoft YaHei"/>
                <a:cs typeface="Microsoft YaHei"/>
              </a:rPr>
              <a:t>我读汉字。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A899E74D-5025-47C2-A317-71588E21D251}"/>
              </a:ext>
            </a:extLst>
          </p:cNvPr>
          <p:cNvSpPr>
            <a:spLocks noGrp="1"/>
          </p:cNvSpPr>
          <p:nvPr/>
        </p:nvSpPr>
        <p:spPr>
          <a:xfrm>
            <a:off x="7181850" y="4981575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Wǒ dú Hànzì.</a:t>
            </a:r>
          </a:p>
        </p:txBody>
      </p:sp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80760B2C-175D-4414-9951-241354D4C7AE}"/>
              </a:ext>
            </a:extLst>
          </p:cNvPr>
          <p:cNvSpPr>
            <a:spLocks noGrp="1"/>
          </p:cNvSpPr>
          <p:nvPr/>
        </p:nvSpPr>
        <p:spPr>
          <a:xfrm>
            <a:off x="9258300" y="48101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50" b="1" i="0">
                <a:solidFill>
                  <a:srgbClr val="241F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1F1A"/>
                </a:solidFill>
                <a:latin typeface="Aptos"/>
                <a:ea typeface="Aptos"/>
                <a:cs typeface="Aptos"/>
              </a:rPr>
              <a:t>Tôi đọc chữ Hán.</a:t>
            </a:r>
          </a:p>
        </p:txBody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E780805F-71BD-4622-A2AD-C4C241897F72}"/>
              </a:ext>
            </a:extLst>
          </p:cNvPr>
          <p:cNvSpPr>
            <a:spLocks noGrp="1"/>
          </p:cNvSpPr>
          <p:nvPr/>
        </p:nvSpPr>
        <p:spPr>
          <a:xfrm>
            <a:off x="6953250" y="5753100"/>
            <a:ext cx="422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425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Nhìn  →  nghe  →  nói</a:t>
            </a:r>
          </a:p>
        </p:txBody>
      </p:sp>
    </p:spTree>
    <p:extLst>
      <p:ext uri="{BB962C8B-B14F-4D97-AF65-F5344CB8AC3E}">
        <p14:creationId xmlns:p14="http://schemas.microsoft.com/office/powerpoint/2010/main" val="47867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9C0BD554-09AF-45B0-8C8D-860F87436EA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07  /  MỤC TIÊU HSK 1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68B3525D-3D1F-44A4-8851-BFECF97C8C6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HSK 1 kiểm tra hai kỹ năng chính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DF5A49EE-483F-4649-BEB4-F27357BA01E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12127C70-C7E3-45E6-AC5F-B3C4BFFC0E49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8B133AD-0608-4AD8-8A71-E884F30DF24D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08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3B0F885-4E59-47CF-A8A2-4C66EB69F5B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03BC2171-B6FB-4F9F-A626-F11942B1760E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DA3E3655-7721-44A8-94F7-62FA7AA6BCAE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743450" cy="2895600"/>
          </a:xfrm>
          <a:prstGeom prst="roundRect">
            <a:avLst>
              <a:gd name="adj" fmla="val 5263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7" name="Hình ảnh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2133600"/>
            <a:ext cx="1047750" cy="1047750"/>
          </a:xfrm>
          <a:prstGeom prst="rect">
            <a:avLst/>
          </a:prstGeom>
        </p:spPr>
      </p:pic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AC2F1670-B813-4BC6-A17F-12CBB6150002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NGHE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992F88E8-D819-44EA-82EF-2A4EFBB73153}"/>
              </a:ext>
            </a:extLst>
          </p:cNvPr>
          <p:cNvSpPr>
            <a:spLocks noGrp="1"/>
          </p:cNvSpPr>
          <p:nvPr/>
        </p:nvSpPr>
        <p:spPr>
          <a:xfrm>
            <a:off x="933450" y="3733800"/>
            <a:ext cx="3333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• nghe và nhận diện từ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• hiểu câu ngắn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• liên hệ âm thanh với ý nghĩa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6A12CA26-002A-43E8-94C1-FFB4985037F5}"/>
              </a:ext>
            </a:extLst>
          </p:cNvPr>
          <p:cNvSpPr>
            <a:spLocks noGrp="1"/>
          </p:cNvSpPr>
          <p:nvPr/>
        </p:nvSpPr>
        <p:spPr>
          <a:xfrm>
            <a:off x="5695950" y="2000250"/>
            <a:ext cx="4743450" cy="2895600"/>
          </a:xfrm>
          <a:prstGeom prst="roundRect">
            <a:avLst>
              <a:gd name="adj" fmla="val 5263"/>
            </a:avLst>
          </a:prstGeom>
          <a:solidFill>
            <a:srgbClr val="1E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9FD98FA2-1D4D-4F5F-8561-A5379B084916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76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8A9DB801-BE79-47F5-AD10-EACAE003371F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ĐỌC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5721AA77-E54D-4CC2-99D4-D5F37AA99FF0}"/>
              </a:ext>
            </a:extLst>
          </p:cNvPr>
          <p:cNvSpPr>
            <a:spLocks noGrp="1"/>
          </p:cNvSpPr>
          <p:nvPr/>
        </p:nvSpPr>
        <p:spPr>
          <a:xfrm>
            <a:off x="6591300" y="3733800"/>
            <a:ext cx="3714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D9EEE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9EEE8"/>
                </a:solidFill>
                <a:latin typeface="Aptos"/>
                <a:ea typeface="Aptos"/>
                <a:cs typeface="Aptos"/>
              </a:rPr>
              <a:t>• nhận diện chữ Hán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D9EEE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9EEE8"/>
                </a:solidFill>
                <a:latin typeface="Aptos"/>
                <a:ea typeface="Aptos"/>
                <a:cs typeface="Aptos"/>
              </a:rPr>
              <a:t>• hiểu từ và câu đơn giản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D9EEE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9EEE8"/>
                </a:solidFill>
                <a:latin typeface="Aptos"/>
                <a:ea typeface="Aptos"/>
                <a:cs typeface="Aptos"/>
              </a:rPr>
              <a:t>• xác định ý nghĩa thông tin ngắn</a:t>
            </a:r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8BB1BE31-385C-496B-A865-3FBC8251221C}"/>
              </a:ext>
            </a:extLst>
          </p:cNvPr>
          <p:cNvSpPr>
            <a:spLocks noGrp="1"/>
          </p:cNvSpPr>
          <p:nvPr/>
        </p:nvSpPr>
        <p:spPr>
          <a:xfrm>
            <a:off x="4762500" y="2667000"/>
            <a:ext cx="1524000" cy="1524000"/>
          </a:xfrm>
          <a:prstGeom prst="ellipse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B14CF84A-6F3E-43A4-803E-AB4081D80D00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15240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78000"/>
              </a:lnSpc>
              <a:buNone/>
              <a:defRPr sz="255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HSK</a:t>
            </a:r>
          </a:p>
          <a:p>
            <a:pPr algn="ctr">
              <a:lnSpc>
                <a:spcPct val="78000"/>
              </a:lnSpc>
              <a:buNone/>
              <a:defRPr sz="255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4FFD8B60-898D-49DE-B979-6CAA09EC36E0}"/>
              </a:ext>
            </a:extLst>
          </p:cNvPr>
          <p:cNvSpPr>
            <a:spLocks noGrp="1"/>
          </p:cNvSpPr>
          <p:nvPr/>
        </p:nvSpPr>
        <p:spPr>
          <a:xfrm>
            <a:off x="2381250" y="5429250"/>
            <a:ext cx="742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 fontScale="96953"/>
          </a:bodyPr>
          <a:lstStyle/>
          <a:p>
            <a:pPr algn="ctr">
              <a:lnSpc>
                <a:spcPct val="95000"/>
              </a:lnSpc>
              <a:buNone/>
              <a:defRPr sz="14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Chưa cần lo cấu trúc chi tiết ngay.</a:t>
            </a:r>
          </a:p>
          <a:p>
            <a:pPr algn="ctr">
              <a:lnSpc>
                <a:spcPct val="95000"/>
              </a:lnSpc>
              <a:buNone/>
              <a:defRPr sz="14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Cứ xây nền từng bước.</a:t>
            </a:r>
          </a:p>
        </p:txBody>
      </p:sp>
    </p:spTree>
    <p:extLst>
      <p:ext uri="{BB962C8B-B14F-4D97-AF65-F5344CB8AC3E}">
        <p14:creationId xmlns:p14="http://schemas.microsoft.com/office/powerpoint/2010/main" val="87322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FC268937-326D-4D5E-B47C-D4C2EDC4B16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08  /  MỘT BÀI HỌC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D6079E7-6B4C-4C49-B025-2869FEEB1A2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5 lượt học để biến “biết” thành “dùng được”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F6868632-9A52-4B23-ADD5-76366DE5509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0205D64F-27E6-4C65-9900-0FD4AFFF8449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73429793-76C2-48CD-BB77-E1767EB55E36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09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2D5C65BA-9252-4254-9CFD-811E9AFEEAA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E808FD4F-3944-4ACD-B394-C158B98CA082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13743ED2-539A-44EE-9D9D-33CD1291C28D}"/>
              </a:ext>
            </a:extLst>
          </p:cNvPr>
          <p:cNvSpPr>
            <a:spLocks noGrp="1"/>
          </p:cNvSpPr>
          <p:nvPr/>
        </p:nvSpPr>
        <p:spPr>
          <a:xfrm>
            <a:off x="1200150" y="2019300"/>
            <a:ext cx="609600" cy="609600"/>
          </a:xfrm>
          <a:prstGeom prst="ellipse">
            <a:avLst/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E1368BD7-5950-45C2-A911-FA69A9B14043}"/>
              </a:ext>
            </a:extLst>
          </p:cNvPr>
          <p:cNvSpPr>
            <a:spLocks noGrp="1"/>
          </p:cNvSpPr>
          <p:nvPr/>
        </p:nvSpPr>
        <p:spPr>
          <a:xfrm>
            <a:off x="1200150" y="2028825"/>
            <a:ext cx="609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Đường nối Thẳng 9">
            <a:extLst>
              <a:ext uri="{FF2B5EF4-FFF2-40B4-BE49-F238E27FC236}">
                <a16:creationId xmlns:a16="http://schemas.microsoft.com/office/drawing/2014/main" id="{A814A396-5886-4437-A5AB-24976F7747F6}"/>
              </a:ext>
            </a:extLst>
          </p:cNvPr>
          <p:cNvSpPr>
            <a:spLocks noGrp="1"/>
          </p:cNvSpPr>
          <p:nvPr/>
        </p:nvSpPr>
        <p:spPr>
          <a:xfrm>
            <a:off x="1828800" y="2324100"/>
            <a:ext cx="971550" cy="190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D67FD0A8-F276-426F-8DBA-0B677F1DE680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HIỂU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195AB4AB-665C-4949-8786-694D09759AA8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790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Xem toàn bộ bài</a:t>
            </a:r>
          </a:p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Nắm nghĩa trước</a:t>
            </a:r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345D15CE-3BE1-4BE0-8500-9DBEC531EBC0}"/>
              </a:ext>
            </a:extLst>
          </p:cNvPr>
          <p:cNvSpPr>
            <a:spLocks noGrp="1"/>
          </p:cNvSpPr>
          <p:nvPr/>
        </p:nvSpPr>
        <p:spPr>
          <a:xfrm>
            <a:off x="3390900" y="2019300"/>
            <a:ext cx="609600" cy="609600"/>
          </a:xfrm>
          <a:prstGeom prst="ellipse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B365732E-9E28-4B7B-8A4A-1AA8C513428B}"/>
              </a:ext>
            </a:extLst>
          </p:cNvPr>
          <p:cNvSpPr>
            <a:spLocks noGrp="1"/>
          </p:cNvSpPr>
          <p:nvPr/>
        </p:nvSpPr>
        <p:spPr>
          <a:xfrm>
            <a:off x="3390900" y="2028825"/>
            <a:ext cx="609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Đường nối Thẳng 14">
            <a:extLst>
              <a:ext uri="{FF2B5EF4-FFF2-40B4-BE49-F238E27FC236}">
                <a16:creationId xmlns:a16="http://schemas.microsoft.com/office/drawing/2014/main" id="{B4A60B46-DABB-47B6-8CA7-E4FD8F61E6BD}"/>
              </a:ext>
            </a:extLst>
          </p:cNvPr>
          <p:cNvSpPr>
            <a:spLocks noGrp="1"/>
          </p:cNvSpPr>
          <p:nvPr/>
        </p:nvSpPr>
        <p:spPr>
          <a:xfrm>
            <a:off x="4019550" y="2324100"/>
            <a:ext cx="971550" cy="190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9C7C7481-FB82-4901-B449-F7D75078A637}"/>
              </a:ext>
            </a:extLst>
          </p:cNvPr>
          <p:cNvSpPr>
            <a:spLocks noGrp="1"/>
          </p:cNvSpPr>
          <p:nvPr/>
        </p:nvSpPr>
        <p:spPr>
          <a:xfrm>
            <a:off x="2800350" y="29718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E2AE5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2AE53"/>
                </a:solidFill>
                <a:latin typeface="Aptos"/>
                <a:ea typeface="Aptos"/>
                <a:cs typeface="Aptos"/>
              </a:rPr>
              <a:t>PHÁT ÂM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0E122D93-1393-4DB4-B67F-AF87483D6591}"/>
              </a:ext>
            </a:extLst>
          </p:cNvPr>
          <p:cNvSpPr>
            <a:spLocks noGrp="1"/>
          </p:cNvSpPr>
          <p:nvPr/>
        </p:nvSpPr>
        <p:spPr>
          <a:xfrm>
            <a:off x="2800350" y="3448050"/>
            <a:ext cx="1790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Đọc Pinyin</a:t>
            </a:r>
          </a:p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Chú ý thanh điệu</a:t>
            </a:r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80964A10-D2CE-4F0F-8409-B1ECE7B3A514}"/>
              </a:ext>
            </a:extLst>
          </p:cNvPr>
          <p:cNvSpPr>
            <a:spLocks noGrp="1"/>
          </p:cNvSpPr>
          <p:nvPr/>
        </p:nvSpPr>
        <p:spPr>
          <a:xfrm>
            <a:off x="5581650" y="2019300"/>
            <a:ext cx="609600" cy="609600"/>
          </a:xfrm>
          <a:prstGeom prst="ellipse">
            <a:avLst/>
          </a:prstGeom>
          <a:solidFill>
            <a:srgbClr val="1E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7E875A91-21EF-4874-BB2B-200F6FE2130E}"/>
              </a:ext>
            </a:extLst>
          </p:cNvPr>
          <p:cNvSpPr>
            <a:spLocks noGrp="1"/>
          </p:cNvSpPr>
          <p:nvPr/>
        </p:nvSpPr>
        <p:spPr>
          <a:xfrm>
            <a:off x="5581650" y="2028825"/>
            <a:ext cx="609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Đường nối Thẳng 19">
            <a:extLst>
              <a:ext uri="{FF2B5EF4-FFF2-40B4-BE49-F238E27FC236}">
                <a16:creationId xmlns:a16="http://schemas.microsoft.com/office/drawing/2014/main" id="{BBAE38E5-436F-4969-BF8C-A9983EE90A47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971550" cy="190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E358DA40-C1CF-483B-9FB8-D4C66051A1A4}"/>
              </a:ext>
            </a:extLst>
          </p:cNvPr>
          <p:cNvSpPr>
            <a:spLocks noGrp="1"/>
          </p:cNvSpPr>
          <p:nvPr/>
        </p:nvSpPr>
        <p:spPr>
          <a:xfrm>
            <a:off x="4991100" y="29718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1E7A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E7A6E"/>
                </a:solidFill>
                <a:latin typeface="Aptos"/>
                <a:ea typeface="Aptos"/>
                <a:cs typeface="Aptos"/>
              </a:rPr>
              <a:t>NHẬN DIỆN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B33866EA-BF0D-45C1-9EF8-69A612E3B14F}"/>
              </a:ext>
            </a:extLst>
          </p:cNvPr>
          <p:cNvSpPr>
            <a:spLocks noGrp="1"/>
          </p:cNvSpPr>
          <p:nvPr/>
        </p:nvSpPr>
        <p:spPr>
          <a:xfrm>
            <a:off x="4991100" y="3448050"/>
            <a:ext cx="1790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 fontScale="96497"/>
          </a:bodyPr>
          <a:lstStyle/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Che Pinyin</a:t>
            </a:r>
          </a:p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Nhìn chữ → đọc → nói nghĩa</a:t>
            </a:r>
          </a:p>
        </p:txBody>
      </p:sp>
      <p:sp>
        <p:nvSpPr>
          <p:cNvPr id="23" name="Hình Bầu dục 22">
            <a:extLst>
              <a:ext uri="{FF2B5EF4-FFF2-40B4-BE49-F238E27FC236}">
                <a16:creationId xmlns:a16="http://schemas.microsoft.com/office/drawing/2014/main" id="{0809AED0-91F2-492D-B604-46618988B4C7}"/>
              </a:ext>
            </a:extLst>
          </p:cNvPr>
          <p:cNvSpPr>
            <a:spLocks noGrp="1"/>
          </p:cNvSpPr>
          <p:nvPr/>
        </p:nvSpPr>
        <p:spPr>
          <a:xfrm>
            <a:off x="7772400" y="2019300"/>
            <a:ext cx="609600" cy="609600"/>
          </a:xfrm>
          <a:prstGeom prst="ellipse">
            <a:avLst/>
          </a:prstGeom>
          <a:solidFill>
            <a:srgbClr val="6D4B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BFAE9FEF-DD92-4B48-9134-2DE2C74EF750}"/>
              </a:ext>
            </a:extLst>
          </p:cNvPr>
          <p:cNvSpPr>
            <a:spLocks noGrp="1"/>
          </p:cNvSpPr>
          <p:nvPr/>
        </p:nvSpPr>
        <p:spPr>
          <a:xfrm>
            <a:off x="7772400" y="2028825"/>
            <a:ext cx="609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Đường nối Thẳng 24">
            <a:extLst>
              <a:ext uri="{FF2B5EF4-FFF2-40B4-BE49-F238E27FC236}">
                <a16:creationId xmlns:a16="http://schemas.microsoft.com/office/drawing/2014/main" id="{0F8C0C49-F784-4A81-B104-4285BB67D60C}"/>
              </a:ext>
            </a:extLst>
          </p:cNvPr>
          <p:cNvSpPr>
            <a:spLocks noGrp="1"/>
          </p:cNvSpPr>
          <p:nvPr/>
        </p:nvSpPr>
        <p:spPr>
          <a:xfrm>
            <a:off x="8401050" y="2324100"/>
            <a:ext cx="971550" cy="190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156BB2B4-FA84-4CA0-9C83-8A1D3C69E9A7}"/>
              </a:ext>
            </a:extLst>
          </p:cNvPr>
          <p:cNvSpPr>
            <a:spLocks noGrp="1"/>
          </p:cNvSpPr>
          <p:nvPr/>
        </p:nvSpPr>
        <p:spPr>
          <a:xfrm>
            <a:off x="7181850" y="29718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6D4B8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D4B8D"/>
                </a:solidFill>
                <a:latin typeface="Aptos"/>
                <a:ea typeface="Aptos"/>
                <a:cs typeface="Aptos"/>
              </a:rPr>
              <a:t>LUYỆN NGHE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22FCB856-8484-47D7-8610-C47F3115987A}"/>
              </a:ext>
            </a:extLst>
          </p:cNvPr>
          <p:cNvSpPr>
            <a:spLocks noGrp="1"/>
          </p:cNvSpPr>
          <p:nvPr/>
        </p:nvSpPr>
        <p:spPr>
          <a:xfrm>
            <a:off x="7181850" y="3448050"/>
            <a:ext cx="1790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Không nhìn chữ</a:t>
            </a:r>
          </a:p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Nghe → nhận ra từ</a:t>
            </a:r>
          </a:p>
        </p:txBody>
      </p:sp>
      <p:sp>
        <p:nvSpPr>
          <p:cNvPr id="28" name="Hình Bầu dục 27">
            <a:extLst>
              <a:ext uri="{FF2B5EF4-FFF2-40B4-BE49-F238E27FC236}">
                <a16:creationId xmlns:a16="http://schemas.microsoft.com/office/drawing/2014/main" id="{A51625A2-2765-4A26-AFE8-AC2CB713DC07}"/>
              </a:ext>
            </a:extLst>
          </p:cNvPr>
          <p:cNvSpPr>
            <a:spLocks noGrp="1"/>
          </p:cNvSpPr>
          <p:nvPr/>
        </p:nvSpPr>
        <p:spPr>
          <a:xfrm>
            <a:off x="9963150" y="2019300"/>
            <a:ext cx="609600" cy="609600"/>
          </a:xfrm>
          <a:prstGeom prst="ellipse">
            <a:avLst/>
          </a:prstGeom>
          <a:solidFill>
            <a:srgbClr val="8F24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8118169F-CF70-445B-90BB-072C70D7A448}"/>
              </a:ext>
            </a:extLst>
          </p:cNvPr>
          <p:cNvSpPr>
            <a:spLocks noGrp="1"/>
          </p:cNvSpPr>
          <p:nvPr/>
        </p:nvSpPr>
        <p:spPr>
          <a:xfrm>
            <a:off x="9963150" y="2028825"/>
            <a:ext cx="609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6D90DAA1-5F10-4D48-BBA2-35B68F7288D4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SỬ DỤNG</a:t>
            </a:r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51F52637-C1C5-48A4-8804-318996D06FD7}"/>
              </a:ext>
            </a:extLst>
          </p:cNvPr>
          <p:cNvSpPr>
            <a:spLocks noGrp="1"/>
          </p:cNvSpPr>
          <p:nvPr/>
        </p:nvSpPr>
        <p:spPr>
          <a:xfrm>
            <a:off x="9372600" y="3448050"/>
            <a:ext cx="1790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Đặt câu, trả lời</a:t>
            </a:r>
          </a:p>
          <a:p>
            <a:pPr algn="ctr">
              <a:lnSpc>
                <a:spcPct val="95000"/>
              </a:lnSpc>
              <a:buNone/>
              <a:defRPr sz="1200" b="0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Làm bài tập</a:t>
            </a:r>
          </a:p>
        </p:txBody>
      </p:sp>
      <p:sp>
        <p:nvSpPr>
          <p:cNvPr id="32" name="Hình chữ nhật: Góc Tròn 31">
            <a:extLst>
              <a:ext uri="{FF2B5EF4-FFF2-40B4-BE49-F238E27FC236}">
                <a16:creationId xmlns:a16="http://schemas.microsoft.com/office/drawing/2014/main" id="{4E76FBFD-06BA-4F30-B75C-00AA6D909BF5}"/>
              </a:ext>
            </a:extLst>
          </p:cNvPr>
          <p:cNvSpPr>
            <a:spLocks noGrp="1"/>
          </p:cNvSpPr>
          <p:nvPr/>
        </p:nvSpPr>
        <p:spPr>
          <a:xfrm>
            <a:off x="1581150" y="4762500"/>
            <a:ext cx="9029700" cy="838200"/>
          </a:xfrm>
          <a:prstGeom prst="roundRect">
            <a:avLst>
              <a:gd name="adj" fmla="val 18182"/>
            </a:avLst>
          </a:prstGeom>
          <a:solidFill>
            <a:srgbClr val="D9E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859DBABB-1E3B-4487-BB96-7123ED9C7340}"/>
              </a:ext>
            </a:extLst>
          </p:cNvPr>
          <p:cNvSpPr>
            <a:spLocks noGrp="1"/>
          </p:cNvSpPr>
          <p:nvPr/>
        </p:nvSpPr>
        <p:spPr>
          <a:xfrm>
            <a:off x="1885950" y="5029200"/>
            <a:ext cx="8420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Mục tiêu cuối: nhìn chữ Hán → nghe được → hiểu nghĩa → dùng trong câu.</a:t>
            </a:r>
          </a:p>
        </p:txBody>
      </p:sp>
    </p:spTree>
    <p:extLst>
      <p:ext uri="{BB962C8B-B14F-4D97-AF65-F5344CB8AC3E}">
        <p14:creationId xmlns:p14="http://schemas.microsoft.com/office/powerpoint/2010/main" val="376457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92AEEF04-406E-471E-A094-489D6635C3B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09  /  BẪY THƯỜNG GẶP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BA02FB3F-17D9-4B85-AE30-B5FACBFE3BC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14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41F1A"/>
                </a:solidFill>
                <a:latin typeface="Aptos Display"/>
                <a:ea typeface="Aptos Display"/>
                <a:cs typeface="Aptos Display"/>
              </a:rPr>
              <a:t>Đừng học lệch</a:t>
            </a:r>
          </a:p>
        </p:txBody>
      </p:sp>
      <p:sp>
        <p:nvSpPr>
          <p:cNvPr id="3" name="Đường nối Thẳng 2">
            <a:extLst>
              <a:ext uri="{FF2B5EF4-FFF2-40B4-BE49-F238E27FC236}">
                <a16:creationId xmlns:a16="http://schemas.microsoft.com/office/drawing/2014/main" id="{929CD726-38F7-40A1-8CE9-F462F23434C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E9A20232-88C6-43CD-935C-8152D66B664D}"/>
              </a:ext>
            </a:extLst>
          </p:cNvPr>
          <p:cNvSpPr>
            <a:spLocks noGrp="1"/>
          </p:cNvSpPr>
          <p:nvPr/>
        </p:nvSpPr>
        <p:spPr>
          <a:xfrm>
            <a:off x="10191750" y="457200"/>
            <a:ext cx="1085850" cy="24765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D44CE00-9FA0-4BE4-A78E-859D63A2F7CE}"/>
              </a:ext>
            </a:extLst>
          </p:cNvPr>
          <p:cNvSpPr>
            <a:spLocks noGrp="1"/>
          </p:cNvSpPr>
          <p:nvPr/>
        </p:nvSpPr>
        <p:spPr>
          <a:xfrm>
            <a:off x="10191750" y="4762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2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10 / 11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2D42328-43CE-4958-B7CA-4847C8AE61C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B3F617F7-A00A-4BAC-AD6B-48652608F1A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66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5014A6E4-F27B-4A1A-BE8B-FDA69B099D7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00" b="1" i="0">
                <a:solidFill>
                  <a:srgbClr val="C83C2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83C2F"/>
                </a:solidFill>
                <a:latin typeface="Aptos"/>
                <a:ea typeface="Aptos"/>
                <a:cs typeface="Aptos"/>
              </a:rPr>
              <a:t>LỖI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27A19E21-5BFD-48CC-9779-48E09370DB96}"/>
              </a:ext>
            </a:extLst>
          </p:cNvPr>
          <p:cNvSpPr>
            <a:spLocks noGrp="1"/>
          </p:cNvSpPr>
          <p:nvPr/>
        </p:nvSpPr>
        <p:spPr>
          <a:xfrm>
            <a:off x="6591300" y="180975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00" b="1" i="0">
                <a:solidFill>
                  <a:srgbClr val="1E7A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E7A6E"/>
                </a:solidFill>
                <a:latin typeface="Aptos"/>
                <a:ea typeface="Aptos"/>
                <a:cs typeface="Aptos"/>
              </a:rPr>
              <a:t>CÁCH SỬA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E1BDFD16-C4F5-462B-A444-228FD7B58932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572750" cy="552450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AFA9E64D-8300-457D-986F-7CA056043B2F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Chỉ học nghĩa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FB2A9B6C-322B-472C-8BEF-64BBF9274801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E2AE5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2AE5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8393936C-860B-411C-854B-46AF5C3F421E}"/>
              </a:ext>
            </a:extLst>
          </p:cNvPr>
          <p:cNvSpPr>
            <a:spLocks noGrp="1"/>
          </p:cNvSpPr>
          <p:nvPr/>
        </p:nvSpPr>
        <p:spPr>
          <a:xfrm>
            <a:off x="4933950" y="2286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25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你 → nǐ → bạn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8ABC3481-47E4-494F-873D-FE8E71C37DAF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3638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Học đủ 4 thành phần</a:t>
            </a:r>
          </a:p>
        </p:txBody>
      </p:sp>
      <p:sp>
        <p:nvSpPr>
          <p:cNvPr id="15" name="Hình chữ nhật: Góc Tròn 14">
            <a:extLst>
              <a:ext uri="{FF2B5EF4-FFF2-40B4-BE49-F238E27FC236}">
                <a16:creationId xmlns:a16="http://schemas.microsoft.com/office/drawing/2014/main" id="{6B549874-5C9B-4144-BFA0-30D53A8DD3C6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10572750" cy="552450"/>
          </a:xfrm>
          <a:prstGeom prst="roundRect">
            <a:avLst>
              <a:gd name="adj" fmla="val 13793"/>
            </a:avLst>
          </a:prstGeom>
          <a:solidFill>
            <a:srgbClr val="FBF8F2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F55E6066-6CB6-4AF8-97DA-3FF65912ABEC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Chỉ học Pinyin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162E7F83-E39F-4502-AE3E-F765AF19CAC7}"/>
              </a:ext>
            </a:extLst>
          </p:cNvPr>
          <p:cNvSpPr>
            <a:spLocks noGrp="1"/>
          </p:cNvSpPr>
          <p:nvPr/>
        </p:nvSpPr>
        <p:spPr>
          <a:xfrm>
            <a:off x="4286250" y="300990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E2AE5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2AE5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BFDC2F8B-8B7D-4A89-AA10-5A64C1AD31AE}"/>
              </a:ext>
            </a:extLst>
          </p:cNvPr>
          <p:cNvSpPr>
            <a:spLocks noGrp="1"/>
          </p:cNvSpPr>
          <p:nvPr/>
        </p:nvSpPr>
        <p:spPr>
          <a:xfrm>
            <a:off x="4933950" y="3028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25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Pinyin là cầu nối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E563A0D3-208D-4875-90F3-74C25FBDB3FE}"/>
              </a:ext>
            </a:extLst>
          </p:cNvPr>
          <p:cNvSpPr>
            <a:spLocks noGrp="1"/>
          </p:cNvSpPr>
          <p:nvPr/>
        </p:nvSpPr>
        <p:spPr>
          <a:xfrm>
            <a:off x="7143750" y="3028950"/>
            <a:ext cx="3638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Nhận diện trực tiếp chữ Hán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B99F5AC7-B169-45A8-ABE6-C43D4D0027E1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572750" cy="552450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0AAC7A00-76B1-4E91-A5FF-A46EA3340832}"/>
              </a:ext>
            </a:extLst>
          </p:cNvPr>
          <p:cNvSpPr>
            <a:spLocks noGrp="1"/>
          </p:cNvSpPr>
          <p:nvPr/>
        </p:nvSpPr>
        <p:spPr>
          <a:xfrm>
            <a:off x="819150" y="37719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Bỏ qua thanh điệu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39B097C1-42F4-42A0-A16D-916C925DBFCB}"/>
              </a:ext>
            </a:extLst>
          </p:cNvPr>
          <p:cNvSpPr>
            <a:spLocks noGrp="1"/>
          </p:cNvSpPr>
          <p:nvPr/>
        </p:nvSpPr>
        <p:spPr>
          <a:xfrm>
            <a:off x="4286250" y="37528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E2AE5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2AE5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5712A338-C259-4F29-93AD-818C2607E09A}"/>
              </a:ext>
            </a:extLst>
          </p:cNvPr>
          <p:cNvSpPr>
            <a:spLocks noGrp="1"/>
          </p:cNvSpPr>
          <p:nvPr/>
        </p:nvSpPr>
        <p:spPr>
          <a:xfrm>
            <a:off x="4933950" y="37719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25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âm + thanh điệu</a:t>
            </a: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318E6EA2-67B7-4C5D-ABFE-A162180EC810}"/>
              </a:ext>
            </a:extLst>
          </p:cNvPr>
          <p:cNvSpPr>
            <a:spLocks noGrp="1"/>
          </p:cNvSpPr>
          <p:nvPr/>
        </p:nvSpPr>
        <p:spPr>
          <a:xfrm>
            <a:off x="7143750" y="3771900"/>
            <a:ext cx="3638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Nghe và nhắc lại có chủ đích</a:t>
            </a:r>
          </a:p>
        </p:txBody>
      </p:sp>
      <p:sp>
        <p:nvSpPr>
          <p:cNvPr id="25" name="Hình chữ nhật: Góc Tròn 24">
            <a:extLst>
              <a:ext uri="{FF2B5EF4-FFF2-40B4-BE49-F238E27FC236}">
                <a16:creationId xmlns:a16="http://schemas.microsoft.com/office/drawing/2014/main" id="{9210D0FF-53A9-4DBA-BC85-2C2FA1FD30A5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572750" cy="552450"/>
          </a:xfrm>
          <a:prstGeom prst="roundRect">
            <a:avLst>
              <a:gd name="adj" fmla="val 13793"/>
            </a:avLst>
          </a:prstGeom>
          <a:solidFill>
            <a:srgbClr val="FBF8F2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ADA1AB7D-A7BD-40E2-B906-C57B3A827770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Học quá nhiều từ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AA9FEACD-0C3A-4F0C-ABF4-A42FBA2D1F4D}"/>
              </a:ext>
            </a:extLst>
          </p:cNvPr>
          <p:cNvSpPr>
            <a:spLocks noGrp="1"/>
          </p:cNvSpPr>
          <p:nvPr/>
        </p:nvSpPr>
        <p:spPr>
          <a:xfrm>
            <a:off x="4286250" y="449580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E2AE5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2AE5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5A362500-271D-494F-8EC0-06BE20E18E4F}"/>
              </a:ext>
            </a:extLst>
          </p:cNvPr>
          <p:cNvSpPr>
            <a:spLocks noGrp="1"/>
          </p:cNvSpPr>
          <p:nvPr/>
        </p:nvSpPr>
        <p:spPr>
          <a:xfrm>
            <a:off x="4933950" y="45148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25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ít từ → học sâu</a:t>
            </a:r>
          </a:p>
        </p:txBody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063E2176-724D-42C6-9BF8-A5048F2C724A}"/>
              </a:ext>
            </a:extLst>
          </p:cNvPr>
          <p:cNvSpPr>
            <a:spLocks noGrp="1"/>
          </p:cNvSpPr>
          <p:nvPr/>
        </p:nvSpPr>
        <p:spPr>
          <a:xfrm>
            <a:off x="7143750" y="4514850"/>
            <a:ext cx="3638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Ưu tiên từ nghe được, dùng được</a:t>
            </a:r>
          </a:p>
        </p:txBody>
      </p:sp>
      <p:sp>
        <p:nvSpPr>
          <p:cNvPr id="30" name="Hình chữ nhật: Góc Tròn 29">
            <a:extLst>
              <a:ext uri="{FF2B5EF4-FFF2-40B4-BE49-F238E27FC236}">
                <a16:creationId xmlns:a16="http://schemas.microsoft.com/office/drawing/2014/main" id="{BA13CEC3-DE1F-4039-A7F3-924E4FF86411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10572750" cy="552450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9525">
            <a:solidFill>
              <a:srgbClr val="E6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9C49A814-8D64-4C84-AAAF-4A6556BED9B8}"/>
              </a:ext>
            </a:extLst>
          </p:cNvPr>
          <p:cNvSpPr>
            <a:spLocks noGrp="1"/>
          </p:cNvSpPr>
          <p:nvPr/>
        </p:nvSpPr>
        <p:spPr>
          <a:xfrm>
            <a:off x="819150" y="52578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Bỏ bài tập về nhà</a:t>
            </a:r>
          </a:p>
        </p:txBody>
      </p:sp>
      <p:sp>
        <p:nvSpPr>
          <p:cNvPr id="32" name="Hình chữ nhật 31">
            <a:extLst>
              <a:ext uri="{FF2B5EF4-FFF2-40B4-BE49-F238E27FC236}">
                <a16:creationId xmlns:a16="http://schemas.microsoft.com/office/drawing/2014/main" id="{CAC55BC5-1E5B-4ABE-876D-8B59EDD70712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E2AE5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2AE5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98572311-062D-457F-9E52-1D628AFECAA9}"/>
              </a:ext>
            </a:extLst>
          </p:cNvPr>
          <p:cNvSpPr>
            <a:spLocks noGrp="1"/>
          </p:cNvSpPr>
          <p:nvPr/>
        </p:nvSpPr>
        <p:spPr>
          <a:xfrm>
            <a:off x="4933950" y="52578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25" b="0" i="1">
                <a:solidFill>
                  <a:srgbClr val="6E665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E665F"/>
                </a:solidFill>
                <a:latin typeface="Aptos"/>
                <a:ea typeface="Aptos"/>
                <a:cs typeface="Aptos"/>
              </a:rPr>
              <a:t>tiếp nhận ≠ ghi nhớ</a:t>
            </a:r>
          </a:p>
        </p:txBody>
      </p:sp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7CB4685E-5600-4E37-BA95-9A3312F7A242}"/>
              </a:ext>
            </a:extLst>
          </p:cNvPr>
          <p:cNvSpPr>
            <a:spLocks noGrp="1"/>
          </p:cNvSpPr>
          <p:nvPr/>
        </p:nvSpPr>
        <p:spPr>
          <a:xfrm>
            <a:off x="7143750" y="5257800"/>
            <a:ext cx="3638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Làm bài để chuyển sang nhớ lâu</a:t>
            </a:r>
          </a:p>
        </p:txBody>
      </p:sp>
      <p:sp>
        <p:nvSpPr>
          <p:cNvPr id="35" name="Hình chữ nhật: Góc Tròn 34">
            <a:extLst>
              <a:ext uri="{FF2B5EF4-FFF2-40B4-BE49-F238E27FC236}">
                <a16:creationId xmlns:a16="http://schemas.microsoft.com/office/drawing/2014/main" id="{0A8C8D1A-8972-49AC-BC7C-F3EC396F4AB8}"/>
              </a:ext>
            </a:extLst>
          </p:cNvPr>
          <p:cNvSpPr>
            <a:spLocks noGrp="1"/>
          </p:cNvSpPr>
          <p:nvPr/>
        </p:nvSpPr>
        <p:spPr>
          <a:xfrm>
            <a:off x="2476500" y="6019800"/>
            <a:ext cx="7239000" cy="381000"/>
          </a:xfrm>
          <a:prstGeom prst="roundRect">
            <a:avLst>
              <a:gd name="adj" fmla="val 50000"/>
            </a:avLst>
          </a:prstGeom>
          <a:solidFill>
            <a:srgbClr val="C83C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Hình chữ nhật 35">
            <a:extLst>
              <a:ext uri="{FF2B5EF4-FFF2-40B4-BE49-F238E27FC236}">
                <a16:creationId xmlns:a16="http://schemas.microsoft.com/office/drawing/2014/main" id="{441598C7-7611-4D0D-AB08-16518507252D}"/>
              </a:ext>
            </a:extLst>
          </p:cNvPr>
          <p:cNvSpPr>
            <a:spLocks noGrp="1"/>
          </p:cNvSpPr>
          <p:nvPr/>
        </p:nvSpPr>
        <p:spPr>
          <a:xfrm>
            <a:off x="2724150" y="6115050"/>
            <a:ext cx="6743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 fontScale="88889"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Một chút mỗi ngày  &gt;  một lần thật nhiều rồi bỏ cuộc</a:t>
            </a:r>
          </a:p>
        </p:txBody>
      </p:sp>
    </p:spTree>
    <p:extLst>
      <p:ext uri="{BB962C8B-B14F-4D97-AF65-F5344CB8AC3E}">
        <p14:creationId xmlns:p14="http://schemas.microsoft.com/office/powerpoint/2010/main" val="816156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3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9746CE3B-976B-4E1B-B524-F0B4A0A63EED}"/>
              </a:ext>
            </a:extLst>
          </p:cNvPr>
          <p:cNvSpPr>
            <a:spLocks noGrp="1"/>
          </p:cNvSpPr>
          <p:nvPr/>
        </p:nvSpPr>
        <p:spPr>
          <a:xfrm>
            <a:off x="8953500" y="552450"/>
            <a:ext cx="2400300" cy="2400300"/>
          </a:xfrm>
          <a:prstGeom prst="ellipse">
            <a:avLst/>
          </a:prstGeom>
          <a:solidFill>
            <a:srgbClr val="E2AE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ình Bầu dục 1">
            <a:extLst>
              <a:ext uri="{FF2B5EF4-FFF2-40B4-BE49-F238E27FC236}">
                <a16:creationId xmlns:a16="http://schemas.microsoft.com/office/drawing/2014/main" id="{4F228C8E-5133-4C1C-9424-AD13DE263559}"/>
              </a:ext>
            </a:extLst>
          </p:cNvPr>
          <p:cNvSpPr>
            <a:spLocks noGrp="1"/>
          </p:cNvSpPr>
          <p:nvPr/>
        </p:nvSpPr>
        <p:spPr>
          <a:xfrm>
            <a:off x="9658350" y="4438650"/>
            <a:ext cx="1028700" cy="1028700"/>
          </a:xfrm>
          <a:prstGeom prst="ellipse">
            <a:avLst/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10A38857-E91B-4161-BF8E-22552545F48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10  /  CHỐT LẠI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C734745-BDF6-4058-B760-0BF0EE02977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Công thức mang theo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3ED617B-98CD-455A-ABA6-AA5EAA1620DB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809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02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7E7BE"/>
                </a:solidFill>
                <a:latin typeface="Aptos Display"/>
                <a:ea typeface="Aptos Display"/>
                <a:cs typeface="Aptos Display"/>
              </a:rPr>
              <a:t>Ít từ  →  học sâu  →  nghe được  →  đọc được  →  dùng được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EE98297-1A4B-4131-BE01-DA701628C7D7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HSK 1 là bước đầu tiên của hành trình.</a:t>
            </a:r>
          </a:p>
          <a:p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Cứ đi từng bước — nền tảng chắc thì HSK 2 và HSK 3 sẽ nhẹ hơn.</a:t>
            </a:r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D4779AFE-8D40-47F7-B92D-3EC628FAE041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2001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275B7FF6-A6E7-483C-B858-68A91EB3AB11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1200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Âm thanh</a:t>
            </a:r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94503116-9A0B-4869-8537-8C9C6530D1D0}"/>
              </a:ext>
            </a:extLst>
          </p:cNvPr>
          <p:cNvSpPr>
            <a:spLocks noGrp="1"/>
          </p:cNvSpPr>
          <p:nvPr/>
        </p:nvSpPr>
        <p:spPr>
          <a:xfrm>
            <a:off x="2057400" y="45720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F7E7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A689F68-E3F9-4734-B96A-E4F05D318981}"/>
              </a:ext>
            </a:extLst>
          </p:cNvPr>
          <p:cNvSpPr>
            <a:spLocks noGrp="1"/>
          </p:cNvSpPr>
          <p:nvPr/>
        </p:nvSpPr>
        <p:spPr>
          <a:xfrm>
            <a:off x="2057400" y="45910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Pinyin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02CC71C4-EF87-44FA-B9C2-F21D7A1373FC}"/>
              </a:ext>
            </a:extLst>
          </p:cNvPr>
          <p:cNvSpPr>
            <a:spLocks noGrp="1"/>
          </p:cNvSpPr>
          <p:nvPr/>
        </p:nvSpPr>
        <p:spPr>
          <a:xfrm>
            <a:off x="3238500" y="4572000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D9E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D72F85BB-0BA7-4171-89BF-7DB5F03AE751}"/>
              </a:ext>
            </a:extLst>
          </p:cNvPr>
          <p:cNvSpPr>
            <a:spLocks noGrp="1"/>
          </p:cNvSpPr>
          <p:nvPr/>
        </p:nvSpPr>
        <p:spPr>
          <a:xfrm>
            <a:off x="3238500" y="45910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12574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2574F"/>
                </a:solidFill>
                <a:latin typeface="Aptos"/>
                <a:ea typeface="Aptos"/>
                <a:cs typeface="Aptos"/>
              </a:rPr>
              <a:t>Chữ Hán</a:t>
            </a:r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F7238499-7C50-460E-A6BB-9081DD345040}"/>
              </a:ext>
            </a:extLst>
          </p:cNvPr>
          <p:cNvSpPr>
            <a:spLocks noGrp="1"/>
          </p:cNvSpPr>
          <p:nvPr/>
        </p:nvSpPr>
        <p:spPr>
          <a:xfrm>
            <a:off x="4572000" y="4572000"/>
            <a:ext cx="12954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890E83E0-3849-4A66-8728-5C9FE7168D28}"/>
              </a:ext>
            </a:extLst>
          </p:cNvPr>
          <p:cNvSpPr>
            <a:spLocks noGrp="1"/>
          </p:cNvSpPr>
          <p:nvPr/>
        </p:nvSpPr>
        <p:spPr>
          <a:xfrm>
            <a:off x="4572000" y="459105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 i="0">
                <a:solidFill>
                  <a:srgbClr val="8F241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F241D"/>
                </a:solidFill>
                <a:latin typeface="Aptos"/>
                <a:ea typeface="Aptos"/>
                <a:cs typeface="Aptos"/>
              </a:rPr>
              <a:t>Ngữ cảnh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AFDF1603-B380-4EB8-AC67-A50416B826C5}"/>
              </a:ext>
            </a:extLst>
          </p:cNvPr>
          <p:cNvSpPr>
            <a:spLocks noGrp="1"/>
          </p:cNvSpPr>
          <p:nvPr/>
        </p:nvSpPr>
        <p:spPr>
          <a:xfrm>
            <a:off x="742950" y="556260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Bắt đầu hôm nay: chọn 5 từ — nghe, đọc, nói và đặt câu.</a:t>
            </a:r>
          </a:p>
        </p:txBody>
      </p:sp>
      <p:pic>
        <p:nvPicPr>
          <p:cNvPr id="36" name="Hình ảnh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58250" y="891800"/>
            <a:ext cx="2571750" cy="2350250"/>
          </a:xfrm>
          <a:prstGeom prst="rect">
            <a:avLst/>
          </a:prstGeom>
        </p:spPr>
      </p:pic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1A181E5E-2508-44F7-AC09-AE88227681CB}"/>
              </a:ext>
            </a:extLst>
          </p:cNvPr>
          <p:cNvSpPr>
            <a:spLocks noGrp="1"/>
          </p:cNvSpPr>
          <p:nvPr/>
        </p:nvSpPr>
        <p:spPr>
          <a:xfrm>
            <a:off x="8858250" y="31813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3900" b="1" i="0">
                <a:solidFill>
                  <a:srgbClr val="F7F2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F7F2EA"/>
                </a:solidFill>
                <a:latin typeface="Microsoft YaHei"/>
                <a:ea typeface="Microsoft YaHei"/>
                <a:cs typeface="Microsoft YaHei"/>
              </a:rPr>
              <a:t>你好！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5027A10E-6627-4FBB-86EE-63A3510E31AA}"/>
              </a:ext>
            </a:extLst>
          </p:cNvPr>
          <p:cNvSpPr>
            <a:spLocks noGrp="1"/>
          </p:cNvSpPr>
          <p:nvPr/>
        </p:nvSpPr>
        <p:spPr>
          <a:xfrm>
            <a:off x="8858250" y="57150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1" i="0">
                <a:solidFill>
                  <a:srgbClr val="F7E7B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7E7BE"/>
                </a:solidFill>
                <a:latin typeface="Aptos"/>
                <a:ea typeface="Aptos"/>
                <a:cs typeface="Aptos"/>
              </a:rPr>
              <a:t>HỌC ĐỂ DÙNG ĐƯỢC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6646920D-536C-4337-B732-22B91A24F1B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750" b="1" i="0">
                <a:solidFill>
                  <a:srgbClr val="F6DAD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6DAD3"/>
                </a:solidFill>
                <a:latin typeface="Aptos"/>
                <a:ea typeface="Aptos"/>
                <a:cs typeface="Aptos"/>
              </a:rPr>
              <a:t>MANDARIN MASTERY PATH  •  BÀI 01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F683DE2B-FF7A-44BC-95AF-816E094B7C0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750" b="1" i="0">
                <a:solidFill>
                  <a:srgbClr val="F6DAD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6DAD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5180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Microsoft Office PowerPoint</Application>
  <DocSecurity>0</DocSecurity>
  <PresentationFormat>Màn hình rộng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11</vt:i4>
      </vt:variant>
    </vt:vector>
  </HeadingPairs>
  <TitlesOfParts>
    <vt:vector size="16" baseType="lpstr">
      <vt:lpstr>Microsoft YaHei</vt:lpstr>
      <vt:lpstr>Aptos</vt:lpstr>
      <vt:lpstr>Aptos Display</vt:lpstr>
      <vt:lpstr>Calibri</vt:lpstr>
      <vt:lpstr>ChatGPT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Tran An Khanh 20210479</cp:lastModifiedBy>
  <cp:revision>1</cp:revision>
  <dcterms:created xsi:type="dcterms:W3CDTF">2026-08-22T02:48:52Z</dcterms:created>
  <dcterms:modified xsi:type="dcterms:W3CDTF">2026-08-22T02:51:08Z</dcterms:modified>
</cp:coreProperties>
</file>